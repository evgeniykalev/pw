
<file path=[Content_Types].xml><?xml version="1.0" encoding="utf-8"?>
<Types xmlns="http://schemas.openxmlformats.org/package/2006/content-types">
  <Default Extension="svg" ContentType="image/svg+xml"/>
  <Default Extension="wmf" ContentType="image/x-wmf"/>
  <Default Extension="png" ContentType="image/png"/>
  <Default Extension="jpg" ContentType="image/jpe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24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16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8.xml" ContentType="application/vnd.openxmlformats-officedocument.presentationml.slide+xml"/>
  <Override PartName="/ppt/slideLayouts/slideLayout2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3.xml" ContentType="application/vnd.openxmlformats-officedocument.presentationml.slideMaster+xml"/>
  <Override PartName="/ppt/slideLayouts/slideLayout17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s/slide23.xml" ContentType="application/vnd.openxmlformats-officedocument.presentationml.slide+xml"/>
  <Override PartName="/ppt/slideMasters/slideMaster2.xml" ContentType="application/vnd.openxmlformats-officedocument.presentationml.slideMaster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theme/theme2.xml" ContentType="application/vnd.openxmlformats-officedocument.theme+xml"/>
  <Override PartName="/ppt/slides/slide22.xml" ContentType="application/vnd.openxmlformats-officedocument.presentationml.slide+xml"/>
  <Override PartName="/ppt/slideLayouts/slideLayout6.xml" ContentType="application/vnd.openxmlformats-officedocument.presentationml.slideLayout+xml"/>
  <Override PartName="/ppt/slides/slide8.xml" ContentType="application/vnd.openxmlformats-officedocument.presentationml.slide+xml"/>
  <Override PartName="/docProps/app.xml" ContentType="application/vnd.openxmlformats-officedocument.extended-properties+xml"/>
  <Override PartName="/ppt/slides/slide4.xml" ContentType="application/vnd.openxmlformats-officedocument.presentationml.slide+xml"/>
  <Override PartName="/ppt/slides/slide21.xml" ContentType="application/vnd.openxmlformats-officedocument.presentationml.slide+xml"/>
  <Override PartName="/docProps/core.xml" ContentType="application/vnd.openxmlformats-package.core-properties+xml"/>
  <Override PartName="/ppt/slides/slide19.xml" ContentType="application/vnd.openxmlformats-officedocument.presentationml.slide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slides/slide11.xml" ContentType="application/vnd.openxmlformats-officedocument.presentationml.slide+xml"/>
  <Override PartName="/ppt/slides/slide7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presentation.xml" ContentType="application/vnd.openxmlformats-officedocument.presentationml.presentation.main+xml"/>
  <Override PartName="/ppt/tableStyles.xml" ContentType="application/vnd.openxmlformats-officedocument.presentationml.tableStyles+xml"/>
  <Override PartName="/ppt/slideLayouts/slideLayout25.xml" ContentType="application/vnd.openxmlformats-officedocument.presentationml.slideLayout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  <p:sldMasterId id="2147483663" r:id="rId2"/>
    <p:sldMasterId id="2147483674" r:id="rId3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5143500"/>
  <p:notesSz cx="9144000" cy="5143500"/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F147F70-C4FF-49C5-A19A-1E773BD6F60A}">
  <a:tblStyle styleId="{6F147F70-C4FF-49C5-A19A-1E773BD6F60A}" styleName="Table_0">
    <a:wholeTbl>
      <a:tcTxStyle>
        <a:srgbClr val="000000"/>
      </a:tcTxStyle>
      <a:tcStyle>
        <a:tcBdr>
          <a:left>
            <a:ln w="9525">
              <a:solidFill>
                <a:srgbClr val="9E9E9E"/>
              </a:solidFill>
            </a:ln>
          </a:left>
          <a:right>
            <a:ln w="9525">
              <a:solidFill>
                <a:srgbClr val="9E9E9E"/>
              </a:solidFill>
            </a:ln>
          </a:right>
          <a:top>
            <a:ln w="9525">
              <a:solidFill>
                <a:srgbClr val="9E9E9E"/>
              </a:solidFill>
            </a:ln>
          </a:top>
          <a:bottom>
            <a:ln w="9525">
              <a:solidFill>
                <a:srgbClr val="9E9E9E"/>
              </a:solidFill>
            </a:ln>
          </a:bottom>
          <a:insideH>
            <a:ln w="9525">
              <a:solidFill>
                <a:srgbClr val="9E9E9E"/>
              </a:solidFill>
            </a:ln>
          </a:insideH>
          <a:insideV>
            <a:ln w="9525">
              <a:solidFill>
                <a:srgbClr val="9E9E9E"/>
              </a:solidFill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533"/>
        <p:guide pos="397"/>
        <p:guide pos="3240" orient="horz"/>
        <p:guide orient="horz"/>
        <p:guide pos="51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theme" Target="theme/theme1.xml"/><Relationship Id="rId5" Type="http://schemas.openxmlformats.org/officeDocument/2006/relationships/theme" Target="theme/theme2.xml"/><Relationship Id="rId6" Type="http://schemas.openxmlformats.org/officeDocument/2006/relationships/theme" Target="theme/them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presProps" Target="presProps.xml" /><Relationship Id="rId32" Type="http://schemas.openxmlformats.org/officeDocument/2006/relationships/tableStyles" Target="tableStyles.xml" /><Relationship Id="rId33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ТИТУЛЬНЫЙ" preserve="0" showMasterPhAnim="0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/>
          <p:nvPr/>
        </p:nvPicPr>
        <p:blipFill>
          <a:blip r:embed="rId2">
            <a:alphaModFix/>
          </a:blip>
          <a:srcRect l="99" t="0" r="99" b="0"/>
          <a:stretch/>
        </p:blipFill>
        <p:spPr bwMode="auto"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subTitle" idx="1"/>
          </p:nvPr>
        </p:nvSpPr>
        <p:spPr bwMode="auto"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pPr>
              <a:defRPr/>
            </a:pPr>
            <a:endParaRPr/>
          </a:p>
        </p:txBody>
      </p:sp>
      <p:sp>
        <p:nvSpPr>
          <p:cNvPr id="12" name="Google Shape;12;p2"/>
          <p:cNvSpPr txBox="1"/>
          <p:nvPr>
            <p:ph type="title"/>
          </p:nvPr>
        </p:nvSpPr>
        <p:spPr bwMode="auto"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Белый слайд + заголовок" preserve="0" showMasterPhAnim="0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 bwMode="auto"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/>
          </a:p>
        </p:txBody>
      </p:sp>
      <p:sp>
        <p:nvSpPr>
          <p:cNvPr id="15" name="Google Shape;15;p3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Ваш макет 1" preserve="0" showMasterPhAnim="0" userDrawn="1">
  <p:cSld name="CUSTOM_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body" preserve="0" showMasterPhAnim="0" type="tx" userDrawn="1">
  <p:cSld name="TITLE_AND_BOD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" name="Google Shape;20;p5"/>
          <p:cNvSpPr txBox="1"/>
          <p:nvPr>
            <p:ph type="body" idx="1"/>
          </p:nvPr>
        </p:nvSpPr>
        <p:spPr bwMode="auto"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pPr>
              <a:defRPr/>
            </a:pPr>
            <a:endParaRPr/>
          </a:p>
        </p:txBody>
      </p:sp>
      <p:sp>
        <p:nvSpPr>
          <p:cNvPr id="21" name="Google Shape;21;p5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Тема вебинара" preserve="0" showMasterPhAnim="0" type="twoColTx" userDrawn="1">
  <p:cSld name="TITLE_AND_TWO_COLUMN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  <p:sp>
        <p:nvSpPr>
          <p:cNvPr id="24" name="Google Shape;24;p6"/>
          <p:cNvSpPr txBox="1"/>
          <p:nvPr>
            <p:ph type="title"/>
          </p:nvPr>
        </p:nvSpPr>
        <p:spPr bwMode="auto"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5" name="Google Shape;25;p6"/>
          <p:cNvSpPr txBox="1"/>
          <p:nvPr>
            <p:ph type="subTitle" idx="1"/>
          </p:nvPr>
        </p:nvSpPr>
        <p:spPr bwMode="auto"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6" name="Google Shape;26;p6"/>
          <p:cNvSpPr txBox="1"/>
          <p:nvPr>
            <p:ph type="subTitle" idx="2"/>
          </p:nvPr>
        </p:nvSpPr>
        <p:spPr bwMode="auto"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7" name="Google Shape;27;p6"/>
          <p:cNvSpPr txBox="1"/>
          <p:nvPr>
            <p:ph type="subTitle" idx="3"/>
          </p:nvPr>
        </p:nvSpPr>
        <p:spPr bwMode="auto"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8" name="Google Shape;28;p6"/>
          <p:cNvSpPr txBox="1"/>
          <p:nvPr>
            <p:ph type="subTitle" idx="4"/>
          </p:nvPr>
        </p:nvSpPr>
        <p:spPr bwMode="auto"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Разделительный слайд" preserve="0" showMasterPhAnim="0" userDrawn="1">
  <p:cSld name="MAIN_POI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  <p:pic>
        <p:nvPicPr>
          <p:cNvPr id="31" name="Google Shape;31;p7"/>
          <p:cNvPicPr/>
          <p:nvPr/>
        </p:nvPicPr>
        <p:blipFill>
          <a:blip r:embed="rId2">
            <a:alphaModFix/>
          </a:blip>
          <a:srcRect l="0" t="0" r="0" b="0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/>
          <p:nvPr>
            <p:ph type="title"/>
          </p:nvPr>
        </p:nvSpPr>
        <p:spPr bwMode="auto"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О себе" preserve="0" showMasterPhAnim="0" userDrawn="1">
  <p:cSld name="CUSTOM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5" name="Google Shape;35;p8"/>
          <p:cNvSpPr txBox="1"/>
          <p:nvPr>
            <p:ph type="subTitle" idx="1"/>
          </p:nvPr>
        </p:nvSpPr>
        <p:spPr bwMode="auto"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6" name="Google Shape;36;p8"/>
          <p:cNvSpPr txBox="1"/>
          <p:nvPr>
            <p:ph type="subTitle" idx="2"/>
          </p:nvPr>
        </p:nvSpPr>
        <p:spPr bwMode="auto"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Раздел+описание" preserve="0" showMasterPhAnim="0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 bwMode="auto"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9" name="Google Shape;39;p9"/>
          <p:cNvSpPr txBox="1"/>
          <p:nvPr>
            <p:ph type="title"/>
          </p:nvPr>
        </p:nvSpPr>
        <p:spPr bwMode="auto">
          <a:xfrm>
            <a:off x="609075" y="1220875"/>
            <a:ext cx="4045199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40" name="Google Shape;40;p9"/>
          <p:cNvSpPr txBox="1"/>
          <p:nvPr>
            <p:ph type="subTitle" idx="1"/>
          </p:nvPr>
        </p:nvSpPr>
        <p:spPr bwMode="auto">
          <a:xfrm>
            <a:off x="609075" y="2916213"/>
            <a:ext cx="4045199" cy="12350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  <p:sp>
        <p:nvSpPr>
          <p:cNvPr id="41" name="Google Shape;41;p9"/>
          <p:cNvSpPr txBox="1"/>
          <p:nvPr>
            <p:ph type="body" idx="2"/>
          </p:nvPr>
        </p:nvSpPr>
        <p:spPr bwMode="auto"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2" name="Google Shape;42;p9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Заголовок" preserve="0" showMasterPhAnim="0" userDrawn="1">
  <p:cSld name="CUSTOM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кодом 1" preserve="0" showMasterPhAnim="0" userDrawn="1">
  <p:cSld name="CUSTOM_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9" name="Google Shape;49;p12"/>
          <p:cNvSpPr/>
          <p:nvPr/>
        </p:nvSpPr>
        <p:spPr bwMode="auto"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0" name="Google Shape;50;p12"/>
          <p:cNvSpPr txBox="1"/>
          <p:nvPr>
            <p:ph type="subTitle" idx="1"/>
          </p:nvPr>
        </p:nvSpPr>
        <p:spPr bwMode="auto"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кодом 2" preserve="0" showMasterPhAnim="0" userDrawn="1">
  <p:cSld name="CUSTOM_2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3" name="Google Shape;53;p13"/>
          <p:cNvSpPr/>
          <p:nvPr/>
        </p:nvSpPr>
        <p:spPr bwMode="auto"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4" name="Google Shape;54;p13"/>
          <p:cNvSpPr txBox="1"/>
          <p:nvPr>
            <p:ph type="subTitle" idx="1"/>
          </p:nvPr>
        </p:nvSpPr>
        <p:spPr bwMode="auto"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КОД+ТЕКСТ 1" preserve="0" showMasterPhAnim="0" userDrawn="1">
  <p:cSld name="CUSTOM_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7" name="Google Shape;57;p14"/>
          <p:cNvSpPr txBox="1"/>
          <p:nvPr>
            <p:ph type="subTitle" idx="1"/>
          </p:nvPr>
        </p:nvSpPr>
        <p:spPr bwMode="auto"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58" name="Google Shape;58;p14"/>
          <p:cNvSpPr/>
          <p:nvPr/>
        </p:nvSpPr>
        <p:spPr bwMode="auto"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" name="Google Shape;59;p14"/>
          <p:cNvSpPr txBox="1"/>
          <p:nvPr>
            <p:ph type="subTitle" idx="2"/>
          </p:nvPr>
        </p:nvSpPr>
        <p:spPr bwMode="auto"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КОД+ТЕКСТ 2" preserve="0" showMasterPhAnim="0" userDrawn="1">
  <p:cSld name="CUSTOM_4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2" name="Google Shape;62;p15"/>
          <p:cNvSpPr/>
          <p:nvPr/>
        </p:nvSpPr>
        <p:spPr bwMode="auto"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3" name="Google Shape;63;p15"/>
          <p:cNvSpPr txBox="1"/>
          <p:nvPr>
            <p:ph type="subTitle" idx="1"/>
          </p:nvPr>
        </p:nvSpPr>
        <p:spPr bwMode="auto"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4" name="Google Shape;64;p15"/>
          <p:cNvSpPr txBox="1"/>
          <p:nvPr>
            <p:ph type="subTitle" idx="2"/>
          </p:nvPr>
        </p:nvSpPr>
        <p:spPr bwMode="auto"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блок текст + картинка" preserve="0" showMasterPhAnim="0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/>
          <p:nvPr>
            <p:ph type="title"/>
          </p:nvPr>
        </p:nvSpPr>
        <p:spPr bwMode="auto">
          <a:xfrm>
            <a:off x="495300" y="1493849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pPr>
              <a:defRPr/>
            </a:pPr>
            <a:endParaRPr/>
          </a:p>
        </p:txBody>
      </p:sp>
      <p:pic>
        <p:nvPicPr>
          <p:cNvPr id="71" name="Google Shape;71;p17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Цитата, фон градиент" preserve="0" showMasterPhAnim="0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/>
          <p:nvPr>
            <p:ph type="title"/>
          </p:nvPr>
        </p:nvSpPr>
        <p:spPr bwMode="auto"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/>
          </a:p>
        </p:txBody>
      </p:sp>
      <p:sp>
        <p:nvSpPr>
          <p:cNvPr id="74" name="Google Shape;74;p18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этапы процесса" preserve="0" showMasterPhAnim="0" userDrawn="1">
  <p:cSld name="CUSTOM_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pic>
        <p:nvPicPr>
          <p:cNvPr id="77" name="Google Shape;77;p19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 bwMode="auto"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2" name="Google Shape;82;p19"/>
          <p:cNvSpPr txBox="1"/>
          <p:nvPr/>
        </p:nvSpPr>
        <p:spPr bwMode="auto"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3" name="Google Shape;83;p19"/>
          <p:cNvSpPr txBox="1"/>
          <p:nvPr/>
        </p:nvSpPr>
        <p:spPr bwMode="auto"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4" name="Google Shape;84;p19"/>
          <p:cNvSpPr txBox="1"/>
          <p:nvPr/>
        </p:nvSpPr>
        <p:spPr bwMode="auto"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5" name="Google Shape;85;p19"/>
          <p:cNvSpPr txBox="1"/>
          <p:nvPr/>
        </p:nvSpPr>
        <p:spPr bwMode="auto">
          <a:xfrm>
            <a:off x="982906" y="3241600"/>
            <a:ext cx="1523099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/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</a:endParaRPr>
          </a:p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6" name="Google Shape;86;p19"/>
          <p:cNvSpPr txBox="1"/>
          <p:nvPr/>
        </p:nvSpPr>
        <p:spPr bwMode="auto">
          <a:xfrm>
            <a:off x="2828343" y="3241600"/>
            <a:ext cx="1523099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/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</a:endParaRPr>
          </a:p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7" name="Google Shape;87;p19"/>
          <p:cNvSpPr txBox="1"/>
          <p:nvPr/>
        </p:nvSpPr>
        <p:spPr bwMode="auto">
          <a:xfrm>
            <a:off x="4587670" y="3241600"/>
            <a:ext cx="1523099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/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</a:endParaRPr>
          </a:p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88" name="Google Shape;88;p19"/>
          <p:cNvSpPr txBox="1"/>
          <p:nvPr/>
        </p:nvSpPr>
        <p:spPr bwMode="auto">
          <a:xfrm>
            <a:off x="6407056" y="3241600"/>
            <a:ext cx="1523099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/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</a:endParaRPr>
          </a:p>
          <a:p>
            <a:pPr marL="0" marR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  <a:defRPr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писок в 2 колонки " preserve="0" showMasterPhAnim="0" userDrawn="1">
  <p:cSld name="CUSTOM_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aphicFrame>
        <p:nvGraphicFramePr>
          <p:cNvPr id="91" name="Google Shape;91;p20"/>
          <p:cNvGraphicFramePr>
            <a:graphicFrameLocks xmlns:a="http://schemas.openxmlformats.org/drawingml/2006/main"/>
          </p:cNvGraphicFramePr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{6F147F70-C4FF-49C5-A19A-1E773BD6F60A}</a:tableStyleId>
                <a:noFill/>
              </a:tblPr>
              <a:tblGrid>
                <a:gridCol w="3800400"/>
                <a:gridCol w="4410000"/>
              </a:tblGrid>
              <a:tr h="4791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  <a:defRPr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algn="ctr">
                      <a:solidFill>
                        <a:srgbClr val="FFFFFF"/>
                      </a:solidFill>
                    </a:lnL>
                    <a:lnR w="9525" algn="ctr">
                      <a:solidFill>
                        <a:srgbClr val="FFFFFF"/>
                      </a:solidFill>
                    </a:lnR>
                    <a:lnT w="9525" algn="ctr">
                      <a:solidFill>
                        <a:srgbClr val="FFFFFF"/>
                      </a:solidFill>
                    </a:lnT>
                    <a:lnB w="9525" algn="ctr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  <a:defRPr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FFFFFF"/>
                      </a:solidFill>
                    </a:lnL>
                    <a:lnR w="9525" algn="ctr">
                      <a:solidFill>
                        <a:srgbClr val="FFFFFF"/>
                      </a:solidFill>
                    </a:lnR>
                    <a:lnT w="9525" algn="ctr">
                      <a:solidFill>
                        <a:srgbClr val="FFFFFF"/>
                      </a:solidFill>
                    </a:lnT>
                    <a:lnB w="9525" algn="ctr">
                      <a:solidFill>
                        <a:srgbClr val="FFFFFF"/>
                      </a:solidFill>
                    </a:lnB>
                  </a:tcPr>
                </a:tc>
              </a:tr>
              <a:tr h="1016175">
                <a:tc>
                  <a:txBody>
                    <a:bodyPr/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algn="ctr">
                      <a:solidFill>
                        <a:srgbClr val="FFFFFF"/>
                      </a:solidFill>
                    </a:lnL>
                    <a:lnR w="9525" algn="ctr">
                      <a:solidFill>
                        <a:srgbClr val="FFFFFF"/>
                      </a:solidFill>
                    </a:lnR>
                    <a:lnT w="9525" algn="ctr">
                      <a:solidFill>
                        <a:srgbClr val="FFFFFF"/>
                      </a:solidFill>
                    </a:lnT>
                    <a:lnB w="9525" algn="ctr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p>
                      <a:pPr marL="457200" lvl="0" indent="-31750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  <a:defRPr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marL="457200" lvl="0" indent="-32385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  <a:defRPr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FFFFFF"/>
                      </a:solidFill>
                    </a:lnL>
                    <a:lnR w="9525" algn="ctr">
                      <a:solidFill>
                        <a:srgbClr val="FFFFFF"/>
                      </a:solidFill>
                    </a:lnR>
                    <a:lnT w="9525" algn="ctr">
                      <a:solidFill>
                        <a:srgbClr val="FFFFFF"/>
                      </a:solidFill>
                    </a:lnT>
                    <a:lnB w="9525" algn="ctr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сылка на источник" preserve="0" showMasterPhAnim="0" type="twoColTx" userDrawn="1">
  <p:cSld name="TITLE_AND_TWO_COLUMN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 bwMode="auto"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подтемой" preserve="0" showMasterPhAnim="0" userDrawn="1">
  <p:cSld name="MAIN_POI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/>
          <p:nvPr>
            <p:ph type="title"/>
          </p:nvPr>
        </p:nvSpPr>
        <p:spPr bwMode="auto"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Таблица " preserve="0" showMasterPhAnim="0" userDrawn="1">
  <p:cSld name="CUSTOM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aphicFrame>
        <p:nvGraphicFramePr>
          <p:cNvPr id="98" name="Google Shape;98;p23"/>
          <p:cNvGraphicFramePr>
            <a:graphicFrameLocks xmlns:a="http://schemas.openxmlformats.org/drawingml/2006/main"/>
          </p:cNvGraphicFramePr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{6F147F70-C4FF-49C5-A19A-1E773BD6F60A}</a:tableStyleId>
                <a:noFill/>
              </a:tblPr>
              <a:tblGrid>
                <a:gridCol w="395875"/>
                <a:gridCol w="2403400"/>
                <a:gridCol w="2684725"/>
                <a:gridCol w="2477150"/>
              </a:tblGrid>
              <a:tr h="7061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 anchor="ctr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 anchor="ctr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 anchor="ctr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 anchor="ctr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  <a:tr h="420325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300"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91425" marR="91425" marT="91425" marB="91425">
                    <a:lnL w="9525" algn="ctr">
                      <a:solidFill>
                        <a:srgbClr val="D9D9D9"/>
                      </a:solidFill>
                    </a:lnL>
                    <a:lnR w="9525" algn="ctr">
                      <a:solidFill>
                        <a:srgbClr val="D9D9D9"/>
                      </a:solidFill>
                    </a:lnR>
                    <a:lnT w="9525" algn="ctr">
                      <a:solidFill>
                        <a:srgbClr val="D9D9D9"/>
                      </a:solidFill>
                    </a:lnT>
                    <a:lnB w="9525" algn="ctr">
                      <a:solidFill>
                        <a:srgbClr val="D9D9D9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4 плашки + иллюстрация" preserve="0" showMasterPhAnim="0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  <p:sp>
        <p:nvSpPr>
          <p:cNvPr id="101" name="Google Shape;101;p24"/>
          <p:cNvSpPr/>
          <p:nvPr/>
        </p:nvSpPr>
        <p:spPr bwMode="auto"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02" name="Google Shape;102;p24"/>
          <p:cNvSpPr/>
          <p:nvPr/>
        </p:nvSpPr>
        <p:spPr bwMode="auto"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03" name="Google Shape;103;p24"/>
          <p:cNvSpPr/>
          <p:nvPr/>
        </p:nvSpPr>
        <p:spPr bwMode="auto"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04" name="Google Shape;104;p24"/>
          <p:cNvSpPr/>
          <p:nvPr/>
        </p:nvSpPr>
        <p:spPr bwMode="auto"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pic>
        <p:nvPicPr>
          <p:cNvPr id="105" name="Google Shape;105;p24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Заголовок" preserve="0" showMasterPhAnim="0" userDrawn="1">
  <p:cSld name="CUSTOM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3 блока" preserve="0" showMasterPhAnim="0" userDrawn="1">
  <p:cSld name="CUSTOM_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0" name="Google Shape;110;p26"/>
          <p:cNvSpPr/>
          <p:nvPr/>
        </p:nvSpPr>
        <p:spPr bwMode="auto">
          <a:xfrm>
            <a:off x="932712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11" name="Google Shape;111;p26"/>
          <p:cNvSpPr/>
          <p:nvPr/>
        </p:nvSpPr>
        <p:spPr bwMode="auto"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12" name="Google Shape;112;p26"/>
          <p:cNvSpPr/>
          <p:nvPr/>
        </p:nvSpPr>
        <p:spPr bwMode="auto"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13" name="Google Shape;113;p26"/>
          <p:cNvSpPr txBox="1"/>
          <p:nvPr/>
        </p:nvSpPr>
        <p:spPr bwMode="auto"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 bwMode="auto"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 bwMode="auto"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Важный тезис крупным шрифтом " preserve="0" showMasterPhAnim="0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/>
          <p:nvPr>
            <p:ph type="title"/>
          </p:nvPr>
        </p:nvSpPr>
        <p:spPr bwMode="auto"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/>
          </a:p>
        </p:txBody>
      </p:sp>
      <p:sp>
        <p:nvSpPr>
          <p:cNvPr id="122" name="Google Shape;122;p28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Заголовок" preserve="0" showMasterPhAnim="0" userDrawn="1">
  <p:cSld name="CUSTOM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/>
          <p:nvPr>
            <p:ph type="title"/>
          </p:nvPr>
        </p:nvSpPr>
        <p:spPr bwMode="auto">
          <a:xfrm>
            <a:off x="500550" y="330736"/>
            <a:ext cx="8520600" cy="9797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кодом 1" preserve="0" showMasterPhAnim="0" userDrawn="1">
  <p:cSld name="CUSTOM_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" name="Google Shape;128;p31"/>
          <p:cNvSpPr txBox="1"/>
          <p:nvPr>
            <p:ph type="title"/>
          </p:nvPr>
        </p:nvSpPr>
        <p:spPr bwMode="auto">
          <a:xfrm>
            <a:off x="500550" y="330736"/>
            <a:ext cx="8520600" cy="9797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9" name="Google Shape;129;p31"/>
          <p:cNvSpPr/>
          <p:nvPr/>
        </p:nvSpPr>
        <p:spPr bwMode="auto">
          <a:xfrm>
            <a:off x="606200" y="1441163"/>
            <a:ext cx="79386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0" name="Google Shape;130;p31"/>
          <p:cNvSpPr txBox="1"/>
          <p:nvPr>
            <p:ph type="subTitle" idx="1"/>
          </p:nvPr>
        </p:nvSpPr>
        <p:spPr bwMode="auto">
          <a:xfrm>
            <a:off x="743675" y="1496071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подтемой" preserve="0" showMasterPhAnim="0" userDrawn="1">
  <p:cSld name="MAIN_POINT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" name="Google Shape;132;p32"/>
          <p:cNvSpPr txBox="1"/>
          <p:nvPr>
            <p:ph type="title"/>
          </p:nvPr>
        </p:nvSpPr>
        <p:spPr bwMode="auto"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с кодом 2 1" preserve="0" showMasterPhAnim="0" userDrawn="1">
  <p:cSld name="CUSTOM_2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5" name="Google Shape;135;p33"/>
          <p:cNvSpPr/>
          <p:nvPr/>
        </p:nvSpPr>
        <p:spPr bwMode="auto"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6" name="Google Shape;136;p33"/>
          <p:cNvSpPr txBox="1"/>
          <p:nvPr>
            <p:ph type="subTitle" idx="1"/>
          </p:nvPr>
        </p:nvSpPr>
        <p:spPr bwMode="auto"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Слайд КОД+ТЕКСТ 1 1" preserve="0" showMasterPhAnim="0" userDrawn="1">
  <p:cSld name="CUSTOM_4_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" name="Google Shape;138;p34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9" name="Google Shape;139;p34"/>
          <p:cNvSpPr txBox="1"/>
          <p:nvPr>
            <p:ph type="subTitle" idx="1"/>
          </p:nvPr>
        </p:nvSpPr>
        <p:spPr bwMode="auto"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40" name="Google Shape;140;p34"/>
          <p:cNvSpPr/>
          <p:nvPr/>
        </p:nvSpPr>
        <p:spPr bwMode="auto"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1" name="Google Shape;141;p34"/>
          <p:cNvSpPr txBox="1"/>
          <p:nvPr>
            <p:ph type="subTitle" idx="2"/>
          </p:nvPr>
        </p:nvSpPr>
        <p:spPr bwMode="auto"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</a:defRPr>
            </a:lvl1pPr>
            <a:lvl2pPr lvl="1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theme" Target="../theme/theme2.xml"/><Relationship Id="rId12" Type="http://schemas.openxmlformats.org/officeDocument/2006/relationships/image" Target="../media/image1.png"/></Relationships>
</file>

<file path=ppt/slideMasters/_rels/slideMaster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theme" Target="../theme/theme3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blipFill>
          <a:blip r:embed="rId16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" name="Google Shape;7;p1"/>
          <p:cNvSpPr txBox="1"/>
          <p:nvPr>
            <p:ph type="body" idx="1"/>
          </p:nvPr>
        </p:nvSpPr>
        <p:spPr bwMode="auto"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" name="Google Shape;8;p1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 sldNum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blipFill>
          <a:blip r:embed="rId12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7" name="Google Shape;67;p16"/>
          <p:cNvSpPr txBox="1"/>
          <p:nvPr>
            <p:ph type="body" idx="1"/>
          </p:nvPr>
        </p:nvSpPr>
        <p:spPr bwMode="auto"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8" name="Google Shape;68;p16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</p:sldLayoutIdLst>
  <p:hf dt="0" ftr="0" hdr="0" sldNum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blipFill>
          <a:blip r:embed="rId9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>
            <p:ph type="title"/>
          </p:nvPr>
        </p:nvSpPr>
        <p:spPr bwMode="auto">
          <a:xfrm>
            <a:off x="500550" y="330736"/>
            <a:ext cx="8520600" cy="97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8" name="Google Shape;118;p27"/>
          <p:cNvSpPr txBox="1"/>
          <p:nvPr>
            <p:ph type="body" idx="1"/>
          </p:nvPr>
        </p:nvSpPr>
        <p:spPr bwMode="auto"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9" name="Google Shape;119;p27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ru"/>
              <a:t/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</p:sldLayoutIdLst>
  <p:hf dt="0" ftr="0" hdr="0" sldNum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media1.sv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image" Target="../media/media2.sv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image" Target="../media/media3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media4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jp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7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8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mage10.png"/><Relationship Id="rId3" Type="http://schemas.openxmlformats.org/officeDocument/2006/relationships/image" Target="../media/image31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3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/>
          <p:nvPr/>
        </p:nvPicPr>
        <p:blipFill>
          <a:blip r:embed="rId2">
            <a:alphaModFix/>
          </a:blip>
          <a:srcRect l="18598" t="0" r="18591" b="0"/>
          <a:stretch/>
        </p:blipFill>
        <p:spPr bwMode="auto"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 bwMode="auto">
          <a:xfrm>
            <a:off x="433125" y="1534950"/>
            <a:ext cx="7600139" cy="731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40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Оформление командировки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48" name="Google Shape;148;p35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 bwMode="auto"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Roboto"/>
              <a:ea typeface="Roboto"/>
              <a:cs typeface="Roboto"/>
            </a:endParaRPr>
          </a:p>
        </p:txBody>
      </p:sp>
      <p:sp>
        <p:nvSpPr>
          <p:cNvPr id="150" name="Google Shape;150;p35"/>
          <p:cNvSpPr txBox="1"/>
          <p:nvPr/>
        </p:nvSpPr>
        <p:spPr bwMode="auto">
          <a:xfrm>
            <a:off x="886050" y="4127374"/>
            <a:ext cx="2412839" cy="443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900">
                <a:solidFill>
                  <a:srgbClr val="FFFFFF"/>
                </a:solidFill>
                <a:latin typeface="Roboto Medium"/>
                <a:ea typeface="Roboto Medium"/>
                <a:cs typeface="Roboto Medium"/>
              </a:rPr>
              <a:t>АРХИТЕКТОР 1С</a:t>
            </a:r>
            <a:endParaRPr sz="100">
              <a:latin typeface="Roboto Medium"/>
              <a:ea typeface="Roboto Medium"/>
              <a:cs typeface="Roboto Medium"/>
            </a:endParaRPr>
          </a:p>
        </p:txBody>
      </p:sp>
      <p:pic>
        <p:nvPicPr>
          <p:cNvPr id="151" name="Google Shape;151;p35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7409722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/>
          <p:nvPr>
            <p:ph type="title"/>
          </p:nvPr>
        </p:nvSpPr>
        <p:spPr bwMode="auto"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/>
          <p:nvPr>
            <p:ph type="title"/>
          </p:nvPr>
        </p:nvSpPr>
        <p:spPr bwMode="auto"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" sz="3000"/>
              <a:t>Защита проекта</a:t>
            </a:r>
            <a:endParaRPr sz="30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" sz="3000"/>
              <a:t>Тема: </a:t>
            </a:r>
            <a:r>
              <a:rPr lang="ru" sz="3000"/>
              <a:t>О</a:t>
            </a:r>
            <a:r>
              <a:rPr lang="ru" sz="3000"/>
              <a:t>ф</a:t>
            </a:r>
            <a:r>
              <a:rPr lang="ru" sz="3000"/>
              <a:t>о</a:t>
            </a:r>
            <a:r>
              <a:rPr lang="ru" sz="3000"/>
              <a:t>р</a:t>
            </a:r>
            <a:r>
              <a:rPr lang="ru" sz="3000"/>
              <a:t>м</a:t>
            </a:r>
            <a:r>
              <a:rPr lang="ru" sz="3000"/>
              <a:t>л</a:t>
            </a:r>
            <a:r>
              <a:rPr lang="ru" sz="3000"/>
              <a:t>е</a:t>
            </a:r>
            <a:r>
              <a:rPr lang="ru" sz="3000"/>
              <a:t>н</a:t>
            </a:r>
            <a:r>
              <a:rPr lang="ru" sz="3000"/>
              <a:t>и</a:t>
            </a:r>
            <a:r>
              <a:rPr lang="ru" sz="3000"/>
              <a:t>е</a:t>
            </a:r>
            <a:r>
              <a:rPr lang="ru" sz="3000"/>
              <a:t> </a:t>
            </a:r>
            <a:r>
              <a:rPr lang="ru" sz="3000"/>
              <a:t>к</a:t>
            </a:r>
            <a:r>
              <a:rPr lang="ru" sz="3000"/>
              <a:t>о</a:t>
            </a:r>
            <a:r>
              <a:rPr lang="ru" sz="3000"/>
              <a:t>м</a:t>
            </a:r>
            <a:r>
              <a:rPr lang="ru" sz="3000"/>
              <a:t>а</a:t>
            </a:r>
            <a:r>
              <a:rPr lang="ru" sz="3000"/>
              <a:t>н</a:t>
            </a:r>
            <a:r>
              <a:rPr lang="ru" sz="3000"/>
              <a:t>д</a:t>
            </a:r>
            <a:r>
              <a:rPr lang="ru" sz="3000"/>
              <a:t>и</a:t>
            </a:r>
            <a:r>
              <a:rPr lang="ru" sz="3000"/>
              <a:t>р</a:t>
            </a:r>
            <a:r>
              <a:rPr lang="ru" sz="3000"/>
              <a:t>о</a:t>
            </a:r>
            <a:r>
              <a:rPr lang="ru" sz="3000"/>
              <a:t>в</a:t>
            </a:r>
            <a:r>
              <a:rPr lang="ru" sz="3000"/>
              <a:t>к</a:t>
            </a:r>
            <a:r>
              <a:rPr lang="ru" sz="3000"/>
              <a:t>и</a:t>
            </a:r>
            <a:endParaRPr sz="30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64" name="Google Shape;164;p37"/>
          <p:cNvPicPr/>
          <p:nvPr/>
        </p:nvPicPr>
        <p:blipFill>
          <a:blip r:embed="rId2"/>
          <a:stretch/>
        </p:blipFill>
        <p:spPr bwMode="auto">
          <a:xfrm>
            <a:off x="630000" y="2085726"/>
            <a:ext cx="23499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5" name="Google Shape;165;p37"/>
          <p:cNvSpPr txBox="1"/>
          <p:nvPr/>
        </p:nvSpPr>
        <p:spPr bwMode="auto"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300" b="1">
                <a:solidFill>
                  <a:srgbClr val="3F299A"/>
                </a:solidFill>
                <a:latin typeface="Roboto"/>
                <a:ea typeface="Roboto"/>
                <a:cs typeface="Roboto"/>
              </a:rPr>
              <a:t>Евгений Клишев</a:t>
            </a:r>
            <a:r>
              <a:rPr lang="ru-RU" sz="2300" b="1">
                <a:solidFill>
                  <a:srgbClr val="3F299A"/>
                </a:solidFill>
                <a:latin typeface="Roboto"/>
                <a:ea typeface="Roboto"/>
                <a:cs typeface="Roboto"/>
              </a:rPr>
              <a:t> </a:t>
            </a:r>
            <a:endParaRPr sz="2300" b="1">
              <a:solidFill>
                <a:srgbClr val="3F299A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66" name="Google Shape;166;p37"/>
          <p:cNvSpPr txBox="1"/>
          <p:nvPr/>
        </p:nvSpPr>
        <p:spPr bwMode="auto">
          <a:xfrm>
            <a:off x="3899475" y="2893374"/>
            <a:ext cx="3238200" cy="896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300">
                <a:latin typeface="Roboto Medium"/>
                <a:ea typeface="Roboto Medium"/>
                <a:cs typeface="Roboto Medium"/>
              </a:rPr>
              <a:t>Руководитель группы разработки 1С</a:t>
            </a:r>
            <a:endParaRPr lang="ru-RU" sz="1300">
              <a:latin typeface="Roboto Medium"/>
              <a:ea typeface="Roboto Medium"/>
              <a:cs typeface="Roboto Medium"/>
            </a:endParaRPr>
          </a:p>
          <a:p>
            <a:pPr marL="0" lv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300">
                <a:latin typeface="Roboto Medium"/>
                <a:ea typeface="Roboto Medium"/>
                <a:cs typeface="Roboto Medium"/>
              </a:rPr>
              <a:t>«Комита цифровые технологии»</a:t>
            </a:r>
            <a:endParaRPr lang="ru-RU" sz="1300">
              <a:latin typeface="Roboto Medium"/>
              <a:ea typeface="Roboto Medium"/>
              <a:cs typeface="Roboto Medium"/>
            </a:endParaRPr>
          </a:p>
          <a:p>
            <a:pPr marL="0" lv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300">
                <a:latin typeface="Roboto Medium"/>
                <a:ea typeface="Roboto Medium"/>
                <a:cs typeface="Roboto Medium"/>
              </a:rPr>
              <a:t>Сертифицированный специалист 1С</a:t>
            </a:r>
            <a:endParaRPr lang="ru-RU" sz="1300">
              <a:solidFill>
                <a:srgbClr val="000000"/>
              </a:solidFill>
              <a:latin typeface="Roboto Medium"/>
              <a:ea typeface="Roboto Medium"/>
              <a:cs typeface="Roboto Medium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/>
          <p:nvPr>
            <p:ph type="title"/>
          </p:nvPr>
        </p:nvSpPr>
        <p:spPr bwMode="auto"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 bwMode="auto">
          <a:xfrm>
            <a:off x="1138125" y="1491301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</a:rPr>
              <a:t>Цель и задачи проекта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73" name="Google Shape;173;p38"/>
          <p:cNvSpPr/>
          <p:nvPr/>
        </p:nvSpPr>
        <p:spPr bwMode="auto"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74" name="Google Shape;174;p38"/>
          <p:cNvSpPr/>
          <p:nvPr/>
        </p:nvSpPr>
        <p:spPr bwMode="auto"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75" name="Google Shape;175;p38"/>
          <p:cNvSpPr/>
          <p:nvPr/>
        </p:nvSpPr>
        <p:spPr bwMode="auto"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  <p:cxnSp>
        <p:nvCxnSpPr>
          <p:cNvPr id="176" name="Google Shape;176;p38"/>
          <p:cNvCxnSpPr>
            <a:cxnSpLocks/>
            <a:stCxn id="172" idx="1"/>
            <a:endCxn id="173" idx="1"/>
          </p:cNvCxnSpPr>
          <p:nvPr/>
        </p:nvCxnSpPr>
        <p:spPr bwMode="auto"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cxnSpLocks/>
            <a:stCxn id="173" idx="1"/>
            <a:endCxn id="174" idx="1"/>
          </p:cNvCxnSpPr>
          <p:nvPr/>
        </p:nvCxnSpPr>
        <p:spPr bwMode="auto"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cxnSpLocks/>
            <a:stCxn id="174" idx="1"/>
            <a:endCxn id="175" idx="1"/>
          </p:cNvCxnSpPr>
          <p:nvPr/>
        </p:nvCxnSpPr>
        <p:spPr bwMode="auto"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cxnSpLocks/>
            <a:stCxn id="175" idx="1"/>
            <a:endCxn id="180" idx="1"/>
          </p:cNvCxnSpPr>
          <p:nvPr/>
        </p:nvCxnSpPr>
        <p:spPr bwMode="auto">
          <a:xfrm>
            <a:off x="1138125" y="3434324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 bwMode="auto"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 bwMode="auto"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</a:endParaRPr>
          </a:p>
        </p:txBody>
      </p:sp>
      <p:graphicFrame>
        <p:nvGraphicFramePr>
          <p:cNvPr id="186" name="Google Shape;186;p39"/>
          <p:cNvGraphicFramePr>
            <a:graphicFrameLocks xmlns:a="http://schemas.openxmlformats.org/drawingml/2006/main"/>
          </p:cNvGraphicFramePr>
          <p:nvPr/>
        </p:nvGraphicFramePr>
        <p:xfrm>
          <a:off x="952500" y="2382125"/>
          <a:ext cx="3000000" cy="300000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{6F147F70-C4FF-49C5-A19A-1E773BD6F60A}</a:tableStyleId>
                <a:noFill/>
              </a:tblPr>
              <a:tblGrid>
                <a:gridCol w="489425"/>
                <a:gridCol w="6749575"/>
              </a:tblGrid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Планирование командировок руководителям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Ведение заявок на командировки в разрезе сотрудников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defRPr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Контроль бюджетов на проживание и проезд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4</a:t>
                      </a: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Передача информации в систему бронирования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5</a:t>
                      </a: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</a:rPr>
                        <a:t>Получение информации из системы бронирования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 bwMode="auto">
          <a:xfrm>
            <a:off x="1205836" y="1386299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Цель проекта: 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а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в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т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м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а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т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и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з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и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р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в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а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т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ь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 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п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р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ц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е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с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с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 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ф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р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м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л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е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н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и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я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 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к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м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а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н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д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и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р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в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к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 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с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т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р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у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д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н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и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к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о</a:t>
            </a:r>
            <a:r>
              <a:rPr lang="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</a:rPr>
              <a:t>в</a:t>
            </a:r>
            <a:endParaRPr sz="1500">
              <a:solidFill>
                <a:schemeClr val="dk1"/>
              </a:solidFill>
              <a:latin typeface="Roboto Medium"/>
              <a:ea typeface="Roboto Medium"/>
              <a:cs typeface="Roboto Medium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3000"/>
          </a:p>
        </p:txBody>
      </p:sp>
      <p:graphicFrame>
        <p:nvGraphicFramePr>
          <p:cNvPr id="199" name="Google Shape;199;p40"/>
          <p:cNvGraphicFramePr>
            <a:graphicFrameLocks xmlns:a="http://schemas.openxmlformats.org/drawingml/2006/main"/>
          </p:cNvGraphicFramePr>
          <p:nvPr/>
        </p:nvGraphicFramePr>
        <p:xfrm>
          <a:off x="1136587" y="1054932"/>
          <a:ext cx="6576785" cy="3583027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{6F147F70-C4FF-49C5-A19A-1E773BD6F60A}</a:tableStyleId>
                <a:noFill/>
              </a:tblPr>
              <a:tblGrid>
                <a:gridCol w="444008"/>
                <a:gridCol w="6123251"/>
              </a:tblGrid>
              <a:tr h="349612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1.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BPMN –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м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д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б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з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п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ru-RU" sz="1000"/>
                        <a:t> </a:t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PlantUML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–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п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к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х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к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у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ы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м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ы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х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C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,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ER</a:t>
                      </a:r>
                      <a:endParaRPr sz="1000"/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9612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– 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хранение и версионифицирование файлов результата проекта</a:t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4.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1С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: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Накидка – прототипирование форм реализуемого приложения</a:t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5</a:t>
                      </a: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1С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: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Предприятие - разработка приложения п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ланирования и ведение заявок на командировки платформа </a:t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6</a:t>
                      </a: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3" marT="91423" marB="91423">
                    <a:lnL w="9524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4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  <a:r>
                        <a:rPr lang="en-US" sz="10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inkRabbitMQ - </a:t>
                      </a:r>
                      <a:r>
                        <a:rPr lang="en-US" sz="10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нешняя компонента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Native API компонента 1С с открытым исходным кодом, для обмена сообщениями через RabbitMQ</a:t>
                      </a:r>
                      <a:endParaRPr sz="1000"/>
                    </a:p>
                  </a:txBody>
                  <a:tcPr marL="198000" marR="91423" marT="91423" marB="91423">
                    <a:lnL w="9524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4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7</a:t>
                      </a:r>
                      <a:r>
                        <a:rPr lang="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3" marT="91423" marB="91423">
                    <a:lnL w="9524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4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Q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- б</a:t>
                      </a:r>
                      <a:r>
                        <a:rPr lang="ru-RU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рокер сообщений</a:t>
                      </a:r>
                      <a:endParaRPr sz="10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3" marT="91423" marB="91423">
                    <a:lnL w="9524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4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8.</a:t>
                      </a:r>
                      <a:endParaRPr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3" marT="91423" marB="91423">
                    <a:lnL w="9524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4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YaxUnit –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з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ю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з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б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ы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х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п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д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у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ф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у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к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й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п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ж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endParaRPr/>
                    </a:p>
                  </a:txBody>
                  <a:tcPr marL="198000" marR="91423" marT="91423" marB="91423">
                    <a:lnL w="9524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4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4485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0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9.</a:t>
                      </a:r>
                      <a:endParaRPr lang="en-US" sz="10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3" marT="91423" marB="91423">
                    <a:lnL w="9524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4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Vannesa – automation –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з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г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е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в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я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з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б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т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г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ф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у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к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ц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и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л</a:t>
                      </a:r>
                      <a:r>
                        <a:rPr lang="en-US" sz="10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а</a:t>
                      </a:r>
                      <a:endParaRPr/>
                    </a:p>
                  </a:txBody>
                  <a:tcPr marL="198000" marR="91423" marT="91423" marB="91423">
                    <a:lnL w="9524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4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197" name="Google Shape;197;p40"/>
          <p:cNvPicPr/>
          <p:nvPr/>
        </p:nvPicPr>
        <p:blipFill>
          <a:blip r:embed="rId2">
            <a:alphaModFix/>
          </a:blip>
          <a:stretch/>
        </p:blipFill>
        <p:spPr bwMode="auto">
          <a:xfrm rot="0" flipH="0" flipV="0">
            <a:off x="10029342" y="2027466"/>
            <a:ext cx="3375207" cy="1399343"/>
          </a:xfrm>
          <a:prstGeom prst="rect">
            <a:avLst/>
          </a:prstGeom>
          <a:noFill/>
          <a:ln>
            <a:noFill/>
          </a:ln>
          <a:effectLst>
            <a:outerShdw blurRad="200025" dist="28575" dir="4200000" algn="bl" rotWithShape="0">
              <a:srgbClr val="000000">
                <a:alpha val="3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/>
          <p:nvPr>
            <p:ph type="title"/>
          </p:nvPr>
        </p:nvSpPr>
        <p:spPr bwMode="auto">
          <a:xfrm flipH="0" flipV="0">
            <a:off x="500549" y="330723"/>
            <a:ext cx="8520599" cy="688036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000"/>
              <a:t>Схема процесса </a:t>
            </a:r>
            <a:r>
              <a:rPr lang="ru-RU" sz="3000"/>
              <a:t> </a:t>
            </a:r>
            <a:r>
              <a:rPr lang="ru-RU" sz="3000"/>
              <a:t>a</a:t>
            </a:r>
            <a:r>
              <a:rPr lang="ru-RU" sz="3000"/>
              <a:t>s</a:t>
            </a:r>
            <a:r>
              <a:rPr lang="ru-RU" sz="3000"/>
              <a:t> </a:t>
            </a:r>
            <a:r>
              <a:rPr lang="ru-RU" sz="3000"/>
              <a:t>-</a:t>
            </a:r>
            <a:r>
              <a:rPr lang="ru-RU" sz="3000"/>
              <a:t> </a:t>
            </a:r>
            <a:r>
              <a:rPr lang="ru-RU" sz="3000"/>
              <a:t>i</a:t>
            </a:r>
            <a:r>
              <a:rPr lang="ru-RU" sz="3000"/>
              <a:t>s</a:t>
            </a:r>
            <a:endParaRPr sz="3000"/>
          </a:p>
        </p:txBody>
      </p:sp>
      <p:pic>
        <p:nvPicPr>
          <p:cNvPr id="522024683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 flipH="0" flipV="0">
            <a:off x="0" y="955317"/>
            <a:ext cx="9143999" cy="37091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42305" name="Google Shape;204;p41"/>
          <p:cNvSpPr txBox="1"/>
          <p:nvPr>
            <p:ph type="title"/>
          </p:nvPr>
        </p:nvSpPr>
        <p:spPr bwMode="auto">
          <a:xfrm flipH="0" flipV="0">
            <a:off x="500549" y="330723"/>
            <a:ext cx="8520599" cy="688036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000"/>
              <a:t>Схема процесса </a:t>
            </a:r>
            <a:r>
              <a:rPr lang="ru-RU" sz="3000"/>
              <a:t>t</a:t>
            </a:r>
            <a:r>
              <a:rPr lang="ru-RU" sz="3000"/>
              <a:t>o</a:t>
            </a:r>
            <a:r>
              <a:rPr lang="ru-RU" sz="3000"/>
              <a:t> </a:t>
            </a:r>
            <a:r>
              <a:rPr lang="ru-RU" sz="3000"/>
              <a:t>-</a:t>
            </a:r>
            <a:r>
              <a:rPr lang="ru-RU" sz="3000"/>
              <a:t> </a:t>
            </a:r>
            <a:r>
              <a:rPr lang="ru-RU" sz="3000"/>
              <a:t>b</a:t>
            </a:r>
            <a:r>
              <a:rPr lang="ru-RU" sz="3000"/>
              <a:t>e</a:t>
            </a:r>
            <a:endParaRPr sz="3000"/>
          </a:p>
        </p:txBody>
      </p:sp>
      <p:pic>
        <p:nvPicPr>
          <p:cNvPr id="2042006045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>
            <a:off x="0" y="1018760"/>
            <a:ext cx="9143999" cy="37091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3450930" name="Google Shape;204;p41"/>
          <p:cNvSpPr txBox="1"/>
          <p:nvPr>
            <p:ph type="title"/>
          </p:nvPr>
        </p:nvSpPr>
        <p:spPr bwMode="auto">
          <a:xfrm flipH="0" flipV="0">
            <a:off x="500549" y="207312"/>
            <a:ext cx="8520599" cy="545161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000"/>
              <a:t>Архитектура интеграционных решений</a:t>
            </a:r>
            <a:endParaRPr sz="3000"/>
          </a:p>
        </p:txBody>
      </p:sp>
      <p:pic>
        <p:nvPicPr>
          <p:cNvPr id="172845785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 flipH="0" flipV="0">
            <a:off x="1687403" y="809624"/>
            <a:ext cx="5600195" cy="42491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1862034" name="Google Shape;19;p5"/>
          <p:cNvSpPr txBox="1"/>
          <p:nvPr>
            <p:ph type="title"/>
          </p:nvPr>
        </p:nvSpPr>
        <p:spPr bwMode="auto">
          <a:xfrm flipH="0" flipV="0">
            <a:off x="500549" y="330723"/>
            <a:ext cx="8520599" cy="4789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en-US"/>
              <a:t>ER </a:t>
            </a:r>
            <a:r>
              <a:rPr lang="en-US"/>
              <a:t>д</a:t>
            </a:r>
            <a:r>
              <a:rPr lang="en-US"/>
              <a:t>и</a:t>
            </a:r>
            <a:r>
              <a:rPr lang="en-US"/>
              <a:t>а</a:t>
            </a:r>
            <a:r>
              <a:rPr lang="en-US"/>
              <a:t>г</a:t>
            </a:r>
            <a:r>
              <a:rPr lang="en-US"/>
              <a:t>р</a:t>
            </a:r>
            <a:r>
              <a:rPr lang="en-US"/>
              <a:t>а</a:t>
            </a:r>
            <a:r>
              <a:rPr lang="en-US"/>
              <a:t>м</a:t>
            </a:r>
            <a:r>
              <a:rPr lang="en-US"/>
              <a:t>м</a:t>
            </a:r>
            <a:r>
              <a:rPr lang="en-US"/>
              <a:t>а</a:t>
            </a:r>
            <a:r>
              <a:rPr lang="en-US"/>
              <a:t> </a:t>
            </a:r>
            <a:r>
              <a:rPr lang="en-US"/>
              <a:t>о</a:t>
            </a:r>
            <a:r>
              <a:rPr lang="en-US"/>
              <a:t>с</a:t>
            </a:r>
            <a:r>
              <a:rPr lang="en-US"/>
              <a:t>н</a:t>
            </a:r>
            <a:r>
              <a:rPr lang="en-US"/>
              <a:t>о</a:t>
            </a:r>
            <a:r>
              <a:rPr lang="en-US"/>
              <a:t>в</a:t>
            </a:r>
            <a:r>
              <a:rPr lang="en-US"/>
              <a:t>ы</a:t>
            </a:r>
            <a:r>
              <a:rPr lang="en-US"/>
              <a:t>х</a:t>
            </a:r>
            <a:r>
              <a:rPr lang="en-US"/>
              <a:t> </a:t>
            </a:r>
            <a:r>
              <a:rPr lang="en-US"/>
              <a:t>о</a:t>
            </a:r>
            <a:r>
              <a:rPr lang="en-US"/>
              <a:t>б</a:t>
            </a:r>
            <a:r>
              <a:rPr lang="en-US"/>
              <a:t>ъ</a:t>
            </a:r>
            <a:r>
              <a:rPr lang="en-US"/>
              <a:t>е</a:t>
            </a:r>
            <a:r>
              <a:rPr lang="en-US"/>
              <a:t>к</a:t>
            </a:r>
            <a:r>
              <a:rPr lang="en-US"/>
              <a:t>т</a:t>
            </a:r>
            <a:r>
              <a:rPr lang="en-US"/>
              <a:t>о</a:t>
            </a:r>
            <a:r>
              <a:rPr lang="en-US"/>
              <a:t>в</a:t>
            </a:r>
            <a:endParaRPr/>
          </a:p>
        </p:txBody>
      </p:sp>
      <p:pic>
        <p:nvPicPr>
          <p:cNvPr id="1555508159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 flipH="0" flipV="0">
            <a:off x="2180666" y="885825"/>
            <a:ext cx="4344933" cy="40444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175410" name="Google Shape;19;p5"/>
          <p:cNvSpPr txBox="1"/>
          <p:nvPr>
            <p:ph type="title"/>
          </p:nvPr>
        </p:nvSpPr>
        <p:spPr bwMode="auto">
          <a:xfrm flipH="0" flipV="0">
            <a:off x="500549" y="330723"/>
            <a:ext cx="8520599" cy="583675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ru-RU"/>
              <a:t>Прототип формы плана командировок</a:t>
            </a:r>
            <a:endParaRPr/>
          </a:p>
        </p:txBody>
      </p:sp>
      <p:pic>
        <p:nvPicPr>
          <p:cNvPr id="462568171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1056972" y="1057274"/>
            <a:ext cx="5735326" cy="37674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1429522" name="Google Shape;19;p5"/>
          <p:cNvSpPr txBox="1"/>
          <p:nvPr>
            <p:ph type="title"/>
          </p:nvPr>
        </p:nvSpPr>
        <p:spPr bwMode="auto">
          <a:xfrm flipH="0" flipV="0">
            <a:off x="500549" y="330723"/>
            <a:ext cx="8520599" cy="621775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ru-RU"/>
              <a:t>Форма плана командировок</a:t>
            </a:r>
            <a:endParaRPr/>
          </a:p>
        </p:txBody>
      </p:sp>
      <p:pic>
        <p:nvPicPr>
          <p:cNvPr id="724171582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207912" y="1551743"/>
            <a:ext cx="8862932" cy="19435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984459" name="Google Shape;19;p5"/>
          <p:cNvSpPr txBox="1"/>
          <p:nvPr>
            <p:ph type="title"/>
          </p:nvPr>
        </p:nvSpPr>
        <p:spPr bwMode="auto">
          <a:xfrm flipH="0" flipV="0">
            <a:off x="500549" y="330723"/>
            <a:ext cx="8520599" cy="583675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ru-RU"/>
              <a:t>Прототип формы заявки на командировку</a:t>
            </a:r>
            <a:endParaRPr/>
          </a:p>
        </p:txBody>
      </p:sp>
      <p:pic>
        <p:nvPicPr>
          <p:cNvPr id="1878426129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1618746" y="914400"/>
            <a:ext cx="4840177" cy="40204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8774778" name="Google Shape;19;p5"/>
          <p:cNvSpPr txBox="1"/>
          <p:nvPr>
            <p:ph type="title"/>
          </p:nvPr>
        </p:nvSpPr>
        <p:spPr bwMode="auto">
          <a:xfrm flipH="0" flipV="0">
            <a:off x="500549" y="330723"/>
            <a:ext cx="8520599" cy="663188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ru-RU"/>
              <a:t>Форма заявки на командировку</a:t>
            </a:r>
            <a:endParaRPr/>
          </a:p>
        </p:txBody>
      </p:sp>
      <p:pic>
        <p:nvPicPr>
          <p:cNvPr id="1824971312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249325" y="936970"/>
            <a:ext cx="8622590" cy="3707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410193" name="Google Shape;19;p5"/>
          <p:cNvSpPr txBox="1"/>
          <p:nvPr>
            <p:ph type="title"/>
          </p:nvPr>
        </p:nvSpPr>
        <p:spPr bwMode="auto">
          <a:xfrm flipH="0" flipV="0">
            <a:off x="500549" y="330723"/>
            <a:ext cx="8520599" cy="621775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ru-RU"/>
              <a:t>Работа с брокером сообщений</a:t>
            </a:r>
            <a:endParaRPr/>
          </a:p>
        </p:txBody>
      </p:sp>
      <p:pic>
        <p:nvPicPr>
          <p:cNvPr id="755722832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993912" y="952499"/>
            <a:ext cx="5003543" cy="36926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5792814" name="Google Shape;19;p5"/>
          <p:cNvSpPr txBox="1"/>
          <p:nvPr>
            <p:ph type="title"/>
          </p:nvPr>
        </p:nvSpPr>
        <p:spPr bwMode="auto">
          <a:xfrm flipH="0" flipV="0">
            <a:off x="500549" y="330723"/>
            <a:ext cx="8520599" cy="630058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ru-RU"/>
              <a:t>Очереди сообщений</a:t>
            </a:r>
            <a:endParaRPr/>
          </a:p>
        </p:txBody>
      </p:sp>
      <p:pic>
        <p:nvPicPr>
          <p:cNvPr id="881931238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2121964" y="1043608"/>
            <a:ext cx="4065991" cy="391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2781965" name="Google Shape;19;p5"/>
          <p:cNvSpPr txBox="1"/>
          <p:nvPr>
            <p:ph type="title"/>
          </p:nvPr>
        </p:nvSpPr>
        <p:spPr bwMode="auto">
          <a:xfrm>
            <a:off x="500549" y="330723"/>
            <a:ext cx="8520599" cy="1095899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ru-RU"/>
              <a:t>Сообщение в </a:t>
            </a:r>
            <a:r>
              <a:rPr lang="ru-RU"/>
              <a:t>R</a:t>
            </a:r>
            <a:r>
              <a:rPr lang="ru-RU"/>
              <a:t>M</a:t>
            </a:r>
            <a:r>
              <a:rPr lang="ru-RU"/>
              <a:t>Q</a:t>
            </a:r>
            <a:endParaRPr/>
          </a:p>
        </p:txBody>
      </p:sp>
      <p:pic>
        <p:nvPicPr>
          <p:cNvPr id="2107324555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2246912" y="944217"/>
            <a:ext cx="2897434" cy="40731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8843675" name="Google Shape;19;p5"/>
          <p:cNvSpPr txBox="1"/>
          <p:nvPr>
            <p:ph type="title"/>
          </p:nvPr>
        </p:nvSpPr>
        <p:spPr bwMode="auto">
          <a:xfrm flipH="0" flipV="0">
            <a:off x="299021" y="330723"/>
            <a:ext cx="8722128" cy="679754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ru-RU"/>
              <a:t>Регламентные задания работы с брокером сообщений</a:t>
            </a:r>
            <a:endParaRPr/>
          </a:p>
        </p:txBody>
      </p:sp>
      <p:pic>
        <p:nvPicPr>
          <p:cNvPr id="1432260868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737911" y="1482586"/>
            <a:ext cx="6470502" cy="2923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778256" name="Google Shape;19;p5"/>
          <p:cNvSpPr txBox="1"/>
          <p:nvPr>
            <p:ph type="title"/>
          </p:nvPr>
        </p:nvSpPr>
        <p:spPr bwMode="auto">
          <a:xfrm flipH="0" flipV="0">
            <a:off x="500549" y="330723"/>
            <a:ext cx="8520599" cy="596927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ru-RU"/>
              <a:t>Юнит тестирование</a:t>
            </a:r>
            <a:endParaRPr/>
          </a:p>
        </p:txBody>
      </p:sp>
      <p:pic>
        <p:nvPicPr>
          <p:cNvPr id="54184874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969912" y="927651"/>
            <a:ext cx="7030672" cy="35961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502448" name="Google Shape;19;p5"/>
          <p:cNvSpPr txBox="1"/>
          <p:nvPr>
            <p:ph type="title"/>
          </p:nvPr>
        </p:nvSpPr>
        <p:spPr bwMode="auto">
          <a:xfrm flipH="0" flipV="0">
            <a:off x="500549" y="330723"/>
            <a:ext cx="8520599" cy="704602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r>
              <a:rPr lang="ru-RU"/>
              <a:t>Сценарное тестирование</a:t>
            </a:r>
            <a:endParaRPr/>
          </a:p>
        </p:txBody>
      </p:sp>
      <p:pic>
        <p:nvPicPr>
          <p:cNvPr id="1988723249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1218391" y="932230"/>
            <a:ext cx="5226325" cy="410759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/>
          <p:nvPr>
            <p:ph type="title"/>
          </p:nvPr>
        </p:nvSpPr>
        <p:spPr bwMode="auto"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400"/>
              <a:t>Выводы</a:t>
            </a:r>
            <a:endParaRPr sz="300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3000"/>
          </a:p>
        </p:txBody>
      </p:sp>
      <p:graphicFrame>
        <p:nvGraphicFramePr>
          <p:cNvPr id="213" name="Google Shape;213;p42"/>
          <p:cNvGraphicFramePr>
            <a:graphicFrameLocks xmlns:a="http://schemas.openxmlformats.org/drawingml/2006/main"/>
          </p:cNvGraphicFramePr>
          <p:nvPr/>
        </p:nvGraphicFramePr>
        <p:xfrm>
          <a:off x="952499" y="1099274"/>
          <a:ext cx="7248524" cy="1862588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{6F147F70-C4FF-49C5-A19A-1E773BD6F60A}</a:tableStyleId>
                <a:noFill/>
              </a:tblPr>
              <a:tblGrid>
                <a:gridCol w="489425"/>
                <a:gridCol w="6749575"/>
              </a:tblGrid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1.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Описаны модели бизнес-процессов, схемы интеграционных потоков, 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-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диаграмма основных объектов системы</a:t>
                      </a:r>
                      <a:endParaRPr sz="14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2.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400"/>
                        <a:t>Реализована библиотека для работы с </a:t>
                      </a:r>
                      <a:r>
                        <a:rPr lang="ru-RU" sz="1400"/>
                        <a:t>R</a:t>
                      </a:r>
                      <a:r>
                        <a:rPr lang="ru-RU" sz="1400"/>
                        <a:t>a</a:t>
                      </a:r>
                      <a:r>
                        <a:rPr lang="ru-RU" sz="1400"/>
                        <a:t>b</a:t>
                      </a:r>
                      <a:r>
                        <a:rPr lang="ru-RU" sz="1400"/>
                        <a:t>b</a:t>
                      </a:r>
                      <a:r>
                        <a:rPr lang="ru-RU" sz="1400"/>
                        <a:t>i</a:t>
                      </a:r>
                      <a:r>
                        <a:rPr lang="ru-RU" sz="1400"/>
                        <a:t>t</a:t>
                      </a:r>
                      <a:r>
                        <a:rPr lang="ru-RU" sz="1400"/>
                        <a:t> </a:t>
                      </a:r>
                      <a:r>
                        <a:rPr lang="ru-RU" sz="1400"/>
                        <a:t>M</a:t>
                      </a:r>
                      <a:r>
                        <a:rPr lang="ru-RU" sz="1400"/>
                        <a:t>Q</a:t>
                      </a:r>
                      <a:r>
                        <a:rPr lang="ru-RU" sz="1400"/>
                        <a:t> </a:t>
                      </a:r>
                      <a:r>
                        <a:rPr lang="ru-RU" sz="1400"/>
                        <a:t>c</a:t>
                      </a:r>
                      <a:r>
                        <a:rPr lang="ru-RU" sz="1400"/>
                        <a:t> </a:t>
                      </a:r>
                      <a:r>
                        <a:rPr lang="ru-RU" sz="1400"/>
                        <a:t>использованием внешней компоненты </a:t>
                      </a:r>
                      <a:r>
                        <a:rPr lang="en-US" sz="14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  <a:r>
                        <a:rPr lang="en-US" sz="1400" b="0" i="0" u="none" strike="noStrike" cap="none" spc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</a:rPr>
                        <a:t>inkRabbitMQ </a:t>
                      </a:r>
                      <a:endParaRPr sz="14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3.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Реализована 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на платформе 1С с функционалом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: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планирования и оформления заявок на командировку, формирования сообщений для передачи в систему бронирования, обработка входящих сообщений от системы бронирования</a:t>
                      </a:r>
                      <a:endParaRPr sz="14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>
                        <a:defRPr/>
                      </a:pPr>
                      <a:r>
                        <a:rPr lang="ru" sz="1400" b="1" i="0" u="none" strike="noStrike" cap="none" spc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4</a:t>
                      </a:r>
                      <a:r>
                        <a:rPr lang="ru" sz="1400" b="1" i="0" u="none" strike="noStrike" cap="none" spc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400"/>
                    </a:p>
                  </a:txBody>
                  <a:tcPr marL="198000" marR="91425" marT="91425" marB="91425">
                    <a:lnL w="9525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5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Реализованы юнит и сценарные тесты</a:t>
                      </a:r>
                      <a:endParaRPr sz="14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5" marT="91425" marB="91425">
                    <a:lnL w="9525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5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5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5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  <a:tr h="381000">
                <a:tc>
                  <a:txBody>
                    <a:bodyPr/>
                    <a:p>
                      <a:pPr>
                        <a:defRPr/>
                      </a:pPr>
                      <a:r>
                        <a:rPr lang="ru" sz="1400" b="1" i="0" u="none" strike="noStrike" cap="none" spc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5</a:t>
                      </a:r>
                      <a:r>
                        <a:rPr lang="ru" sz="1400" b="1" i="0" u="none" strike="noStrike" cap="none" spc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</a:rPr>
                        <a:t>.</a:t>
                      </a:r>
                      <a:endParaRPr sz="1400"/>
                    </a:p>
                  </a:txBody>
                  <a:tcPr marL="198000" marR="91423" marT="91423" marB="91423">
                    <a:lnL w="9524" algn="ctr">
                      <a:solidFill>
                        <a:srgbClr val="BFC1F0">
                          <a:alpha val="0"/>
                        </a:srgbClr>
                      </a:solidFill>
                    </a:lnL>
                    <a:lnR w="9524" algn="ctr">
                      <a:solidFill>
                        <a:srgbClr val="FFFFFF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  <a:tc>
                  <a:txBody>
                    <a:bodyPr/>
                    <a:p>
                      <a:pPr marL="0" lvl="0" indent="0" algn="l">
                        <a:lnSpc>
                          <a:spcPct val="11499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Создан 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</a:t>
                      </a:r>
                      <a:r>
                        <a:rPr lang="ru-RU" sz="1400" b="0" i="0" u="none" strike="noStrike" cap="none" spc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репозиторий со всеми артефактами проекта</a:t>
                      </a:r>
                      <a:endParaRPr sz="14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198000" marR="91423" marT="91423" marB="91423">
                    <a:lnL w="9524" algn="ctr">
                      <a:solidFill>
                        <a:srgbClr val="FFFFFF">
                          <a:alpha val="0"/>
                        </a:srgbClr>
                      </a:solidFill>
                    </a:lnL>
                    <a:lnR w="9524" algn="ctr">
                      <a:solidFill>
                        <a:srgbClr val="BFC1F0">
                          <a:alpha val="0"/>
                        </a:srgbClr>
                      </a:solidFill>
                    </a:lnR>
                    <a:lnT w="9524" algn="ctr">
                      <a:solidFill>
                        <a:srgbClr val="BFC1F0">
                          <a:alpha val="0"/>
                        </a:srgbClr>
                      </a:solidFill>
                    </a:lnT>
                    <a:lnB w="9524" algn="ctr">
                      <a:solidFill>
                        <a:srgbClr val="BFC1F0">
                          <a:alpha val="0"/>
                        </a:srgbClr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 bwMode="auto"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23" name="Google Shape;223;p43"/>
          <p:cNvSpPr txBox="1"/>
          <p:nvPr/>
        </p:nvSpPr>
        <p:spPr bwMode="auto"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24" name="Google Shape;224;p43"/>
          <p:cNvSpPr txBox="1"/>
          <p:nvPr/>
        </p:nvSpPr>
        <p:spPr bwMode="auto"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25" name="Google Shape;225;p43"/>
          <p:cNvSpPr txBox="1"/>
          <p:nvPr/>
        </p:nvSpPr>
        <p:spPr bwMode="auto"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226" name="Google Shape;226;p43"/>
          <p:cNvSpPr txBox="1"/>
          <p:nvPr/>
        </p:nvSpPr>
        <p:spPr bwMode="auto"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/>
          <p:nvPr>
            <p:ph type="title" idx="4294967295"/>
          </p:nvPr>
        </p:nvSpPr>
        <p:spPr bwMode="auto"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5000">
                <a:solidFill>
                  <a:schemeClr val="lt1"/>
                </a:solidFill>
              </a:rPr>
              <a:t>Спасибо за внимание</a:t>
            </a:r>
            <a:r>
              <a:rPr lang="ru" sz="5000">
                <a:solidFill>
                  <a:schemeClr val="lt1"/>
                </a:solidFill>
              </a:rPr>
              <a:t>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Р7-Офис/2024.4.2.721</Application>
  <DocSecurity>0</DocSecurity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3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Theme 1</vt:lpstr>
      <vt:lpstr>Theme 2</vt:lpstr>
      <vt:lpstr>Theme 3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identifier/>
  <dc:language/>
  <cp:lastModifiedBy>e.klishev</cp:lastModifiedBy>
  <cp:revision>1</cp:revision>
  <dcterms:modified xsi:type="dcterms:W3CDTF">2025-09-26T09:04:48Z</dcterms:modified>
  <cp:category/>
  <cp:contentStatus/>
  <cp:version/>
</cp:coreProperties>
</file>