
<file path=[Content_Types].xml><?xml version="1.0" encoding="utf-8"?>
<Types xmlns="http://schemas.openxmlformats.org/package/2006/content-types">
  <Default Extension="svg" ContentType="image/svg+xml"/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3.xml" ContentType="application/vnd.openxmlformats-officedocument.presentationml.slideMaster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heme/theme3.xml" ContentType="application/vnd.openxmlformats-officedocument.theme+xml"/>
  <Override PartName="/ppt/theme/theme2.xml" ContentType="application/vnd.openxmlformats-officedocument.them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slideLayouts/slideLayout25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  <p:sldMasterId id="2147483663" r:id="rId2"/>
    <p:sldMasterId id="2147483674" r:id="rId3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/>
  <p:notesSz cx="9144000" cy="5143500"/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F147F70-C4FF-49C5-A19A-1E773BD6F60A}">
  <a:tblStyle styleId="{6F147F70-C4FF-49C5-A19A-1E773BD6F60A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33"/>
        <p:guide pos="397"/>
        <p:guide pos="3240" orient="horz"/>
        <p:guide orient="horz"/>
        <p:guide pos="51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theme" Target="theme/theme1.xml"/><Relationship Id="rId5" Type="http://schemas.openxmlformats.org/officeDocument/2006/relationships/theme" Target="theme/theme2.xml"/><Relationship Id="rId6" Type="http://schemas.openxmlformats.org/officeDocument/2006/relationships/theme" Target="theme/them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ИТУЛЬНЫЙ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/>
          <p:nvPr/>
        </p:nvPicPr>
        <p:blipFill>
          <a:blip r:embed="rId2">
            <a:alphaModFix/>
          </a:blip>
          <a:srcRect l="99" t="0" r="99" b="0"/>
          <a:stretch/>
        </p:blipFill>
        <p:spPr bwMode="auto"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subTitle" idx="1"/>
          </p:nvPr>
        </p:nvSpPr>
        <p:spPr bwMode="auto"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pPr>
              <a:defRPr/>
            </a:pPr>
            <a:endParaRPr/>
          </a:p>
        </p:txBody>
      </p:sp>
      <p:sp>
        <p:nvSpPr>
          <p:cNvPr id="12" name="Google Shape;12;p2"/>
          <p:cNvSpPr txBox="1"/>
          <p:nvPr>
            <p:ph type="title"/>
          </p:nvPr>
        </p:nvSpPr>
        <p:spPr bwMode="auto"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елый слайд + заголовок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 bwMode="auto"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5" name="Google Shape;15;p3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ш макет 1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body" preserve="0" showMasterPhAnim="0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5"/>
          <p:cNvSpPr txBox="1"/>
          <p:nvPr>
            <p:ph type="body" idx="1"/>
          </p:nvPr>
        </p:nvSpPr>
        <p:spPr bwMode="auto"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5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ема вебинара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 bwMode="auto"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" name="Google Shape;25;p6"/>
          <p:cNvSpPr txBox="1"/>
          <p:nvPr>
            <p:ph type="subTitle" idx="1"/>
          </p:nvPr>
        </p:nvSpPr>
        <p:spPr bwMode="auto"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6" name="Google Shape;26;p6"/>
          <p:cNvSpPr txBox="1"/>
          <p:nvPr>
            <p:ph type="subTitle" idx="2"/>
          </p:nvPr>
        </p:nvSpPr>
        <p:spPr bwMode="auto"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7" name="Google Shape;27;p6"/>
          <p:cNvSpPr txBox="1"/>
          <p:nvPr>
            <p:ph type="subTitle" idx="3"/>
          </p:nvPr>
        </p:nvSpPr>
        <p:spPr bwMode="auto"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8" name="Google Shape;28;p6"/>
          <p:cNvSpPr txBox="1"/>
          <p:nvPr>
            <p:ph type="subTitle" idx="4"/>
          </p:nvPr>
        </p:nvSpPr>
        <p:spPr bwMode="auto"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ительный слайд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pic>
        <p:nvPicPr>
          <p:cNvPr id="31" name="Google Shape;31;p7"/>
          <p:cNvPicPr/>
          <p:nvPr/>
        </p:nvPicPr>
        <p:blipFill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О себе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5" name="Google Shape;35;p8"/>
          <p:cNvSpPr txBox="1"/>
          <p:nvPr>
            <p:ph type="subTitle" idx="1"/>
          </p:nvPr>
        </p:nvSpPr>
        <p:spPr bwMode="auto"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8"/>
          <p:cNvSpPr txBox="1"/>
          <p:nvPr>
            <p:ph type="subTitle" idx="2"/>
          </p:nvPr>
        </p:nvSpPr>
        <p:spPr bwMode="auto"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+описание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 bwMode="auto">
          <a:xfrm>
            <a:off x="609075" y="12208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9"/>
          <p:cNvSpPr txBox="1"/>
          <p:nvPr>
            <p:ph type="subTitle" idx="1"/>
          </p:nvPr>
        </p:nvSpPr>
        <p:spPr bwMode="auto">
          <a:xfrm>
            <a:off x="609075" y="2916213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9"/>
          <p:cNvSpPr txBox="1"/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2" name="Google Shape;42;p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12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0" name="Google Shape;50;p12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" preserve="0" showMasterPhAnim="0" userDrawn="1">
  <p:cSld name="CUSTOM_2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3" name="Google Shape;53;p1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" name="Google Shape;54;p1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" preserve="0" showMasterPhAnim="0" userDrawn="1">
  <p:cSld name="CUSTOM_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" name="Google Shape;57;p1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8" name="Google Shape;58;p1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" name="Google Shape;59;p1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2" preserve="0" showMasterPhAnim="0" userDrawn="1">
  <p:cSld name="CUSTOM_4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2" name="Google Shape;62;p15"/>
          <p:cNvSpPr/>
          <p:nvPr/>
        </p:nvSpPr>
        <p:spPr bwMode="auto"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3" name="Google Shape;63;p15"/>
          <p:cNvSpPr txBox="1"/>
          <p:nvPr>
            <p:ph type="subTitle" idx="1"/>
          </p:nvPr>
        </p:nvSpPr>
        <p:spPr bwMode="auto"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4" name="Google Shape;64;p15"/>
          <p:cNvSpPr txBox="1"/>
          <p:nvPr>
            <p:ph type="subTitle" idx="2"/>
          </p:nvPr>
        </p:nvSpPr>
        <p:spPr bwMode="auto"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лок текст + картинка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 bwMode="auto">
          <a:xfrm>
            <a:off x="495300" y="1493849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  <p:pic>
        <p:nvPicPr>
          <p:cNvPr id="71" name="Google Shape;71;p17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Цитата, фон градиент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 bwMode="auto"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74" name="Google Shape;74;p1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этапы процесса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pic>
        <p:nvPicPr>
          <p:cNvPr id="77" name="Google Shape;77;p19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 bwMode="auto"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2" name="Google Shape;82;p19"/>
          <p:cNvSpPr txBox="1"/>
          <p:nvPr/>
        </p:nvSpPr>
        <p:spPr bwMode="auto"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3" name="Google Shape;83;p19"/>
          <p:cNvSpPr txBox="1"/>
          <p:nvPr/>
        </p:nvSpPr>
        <p:spPr bwMode="auto"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4" name="Google Shape;84;p19"/>
          <p:cNvSpPr txBox="1"/>
          <p:nvPr/>
        </p:nvSpPr>
        <p:spPr bwMode="auto"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5" name="Google Shape;85;p19"/>
          <p:cNvSpPr txBox="1"/>
          <p:nvPr/>
        </p:nvSpPr>
        <p:spPr bwMode="auto">
          <a:xfrm>
            <a:off x="98290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6" name="Google Shape;86;p19"/>
          <p:cNvSpPr txBox="1"/>
          <p:nvPr/>
        </p:nvSpPr>
        <p:spPr bwMode="auto">
          <a:xfrm>
            <a:off x="2828343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7" name="Google Shape;87;p19"/>
          <p:cNvSpPr txBox="1"/>
          <p:nvPr/>
        </p:nvSpPr>
        <p:spPr bwMode="auto">
          <a:xfrm>
            <a:off x="4587670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8" name="Google Shape;88;p19"/>
          <p:cNvSpPr txBox="1"/>
          <p:nvPr/>
        </p:nvSpPr>
        <p:spPr bwMode="auto">
          <a:xfrm>
            <a:off x="640705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писок в 2 колонки " preserve="0" showMasterPhAnim="0" userDrawn="1">
  <p:cSld name="CUSTOM_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1" name="Google Shape;91;p20"/>
          <p:cNvGraphicFramePr>
            <a:graphicFrameLocks xmlns:a="http://schemas.openxmlformats.org/drawingml/2006/main"/>
          </p:cNvGraphicFramePr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  <a:tr h="1016175">
                <a:tc>
                  <a:txBody>
                    <a:bodyPr/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457200" lvl="0" indent="-31750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  <a:defRPr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сылка на источник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 bwMode="auto"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аблица 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8" name="Google Shape;98;p23"/>
          <p:cNvGraphicFramePr>
            <a:graphicFrameLocks xmlns:a="http://schemas.openxmlformats.org/drawingml/2006/main"/>
          </p:cNvGraphicFramePr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 плашки + иллюстрация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101" name="Google Shape;101;p24"/>
          <p:cNvSpPr/>
          <p:nvPr/>
        </p:nvSpPr>
        <p:spPr bwMode="auto"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2" name="Google Shape;102;p24"/>
          <p:cNvSpPr/>
          <p:nvPr/>
        </p:nvSpPr>
        <p:spPr bwMode="auto"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3" name="Google Shape;103;p24"/>
          <p:cNvSpPr/>
          <p:nvPr/>
        </p:nvSpPr>
        <p:spPr bwMode="auto"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4" name="Google Shape;104;p24"/>
          <p:cNvSpPr/>
          <p:nvPr/>
        </p:nvSpPr>
        <p:spPr bwMode="auto"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pic>
        <p:nvPicPr>
          <p:cNvPr id="105" name="Google Shape;105;p2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 блока" preserve="0" showMasterPhAnim="0" userDrawn="1">
  <p:cSld name="CUSTOM_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0" name="Google Shape;110;p26"/>
          <p:cNvSpPr/>
          <p:nvPr/>
        </p:nvSpPr>
        <p:spPr bwMode="auto">
          <a:xfrm>
            <a:off x="932712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1" name="Google Shape;111;p26"/>
          <p:cNvSpPr/>
          <p:nvPr/>
        </p:nvSpPr>
        <p:spPr bwMode="auto"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2" name="Google Shape;112;p26"/>
          <p:cNvSpPr/>
          <p:nvPr/>
        </p:nvSpPr>
        <p:spPr bwMode="auto"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3" name="Google Shape;113;p26"/>
          <p:cNvSpPr txBox="1"/>
          <p:nvPr/>
        </p:nvSpPr>
        <p:spPr bwMode="auto"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 bwMode="auto"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 bwMode="auto"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жный тезис крупным шрифтом 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title"/>
          </p:nvPr>
        </p:nvSpPr>
        <p:spPr bwMode="auto"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22" name="Google Shape;122;p2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" name="Google Shape;129;p31"/>
          <p:cNvSpPr/>
          <p:nvPr/>
        </p:nvSpPr>
        <p:spPr bwMode="auto"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0" name="Google Shape;130;p31"/>
          <p:cNvSpPr txBox="1"/>
          <p:nvPr>
            <p:ph type="subTitle" idx="1"/>
          </p:nvPr>
        </p:nvSpPr>
        <p:spPr bwMode="auto"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 1" preserve="0" showMasterPhAnim="0" userDrawn="1">
  <p:cSld name="CUSTOM_2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" name="Google Shape;135;p3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" name="Google Shape;136;p3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 1" preserve="0" showMasterPhAnim="0" userDrawn="1">
  <p:cSld name="CUSTOM_4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9" name="Google Shape;139;p3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0" name="Google Shape;140;p3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" name="Google Shape;141;p3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theme" Target="../theme/theme2.xml"/><Relationship Id="rId12" Type="http://schemas.openxmlformats.org/officeDocument/2006/relationships/image" Target="../media/image1.png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theme" Target="../theme/theme3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6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" name="Google Shape;7;p1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" name="Google Shape;8;p1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" name="Google Shape;67;p16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1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9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8" name="Google Shape;118;p27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9" name="Google Shape;119;p2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media1.sv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media2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media3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media4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Relationship Id="rId3" Type="http://schemas.openxmlformats.org/officeDocument/2006/relationships/image" Target="../media/image2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/>
          <p:nvPr/>
        </p:nvPicPr>
        <p:blipFill>
          <a:blip r:embed="rId2">
            <a:alphaModFix/>
          </a:blip>
          <a:srcRect l="18598" t="0" r="18591" b="0"/>
          <a:stretch/>
        </p:blipFill>
        <p:spPr bwMode="auto"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 bwMode="auto">
          <a:xfrm>
            <a:off x="433125" y="1534950"/>
            <a:ext cx="7600139" cy="731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Оформление командировки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48" name="Google Shape;148;p35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 bwMode="auto"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50" name="Google Shape;150;p35"/>
          <p:cNvSpPr txBox="1"/>
          <p:nvPr/>
        </p:nvSpPr>
        <p:spPr bwMode="auto">
          <a:xfrm>
            <a:off x="886050" y="4127374"/>
            <a:ext cx="2412839" cy="44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900">
                <a:solidFill>
                  <a:srgbClr val="FFFFFF"/>
                </a:solidFill>
                <a:latin typeface="Roboto Medium"/>
                <a:ea typeface="Roboto Medium"/>
                <a:cs typeface="Roboto Medium"/>
              </a:rPr>
              <a:t>АРХИТЕКТОР 1С</a:t>
            </a:r>
            <a:endParaRPr sz="100">
              <a:latin typeface="Roboto Medium"/>
              <a:ea typeface="Roboto Medium"/>
              <a:cs typeface="Roboto Medium"/>
            </a:endParaRPr>
          </a:p>
        </p:txBody>
      </p:sp>
      <p:pic>
        <p:nvPicPr>
          <p:cNvPr id="151" name="Google Shape;151;p35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7409722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/>
          <p:nvPr>
            <p:ph type="title"/>
          </p:nvPr>
        </p:nvSpPr>
        <p:spPr bwMode="auto"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/>
          <p:nvPr>
            <p:ph type="title"/>
          </p:nvPr>
        </p:nvSpPr>
        <p:spPr bwMode="auto"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Защита проекта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Тема: </a:t>
            </a:r>
            <a:r>
              <a:rPr lang="ru" sz="3000"/>
              <a:t>О</a:t>
            </a:r>
            <a:r>
              <a:rPr lang="ru" sz="3000"/>
              <a:t>ф</a:t>
            </a:r>
            <a:r>
              <a:rPr lang="ru" sz="3000"/>
              <a:t>о</a:t>
            </a:r>
            <a:r>
              <a:rPr lang="ru" sz="3000"/>
              <a:t>р</a:t>
            </a:r>
            <a:r>
              <a:rPr lang="ru" sz="3000"/>
              <a:t>м</a:t>
            </a:r>
            <a:r>
              <a:rPr lang="ru" sz="3000"/>
              <a:t>л</a:t>
            </a:r>
            <a:r>
              <a:rPr lang="ru" sz="3000"/>
              <a:t>е</a:t>
            </a:r>
            <a:r>
              <a:rPr lang="ru" sz="3000"/>
              <a:t>н</a:t>
            </a:r>
            <a:r>
              <a:rPr lang="ru" sz="3000"/>
              <a:t>и</a:t>
            </a:r>
            <a:r>
              <a:rPr lang="ru" sz="3000"/>
              <a:t>е</a:t>
            </a:r>
            <a:r>
              <a:rPr lang="ru" sz="3000"/>
              <a:t> </a:t>
            </a:r>
            <a:r>
              <a:rPr lang="ru" sz="3000"/>
              <a:t>к</a:t>
            </a:r>
            <a:r>
              <a:rPr lang="ru" sz="3000"/>
              <a:t>о</a:t>
            </a:r>
            <a:r>
              <a:rPr lang="ru" sz="3000"/>
              <a:t>м</a:t>
            </a:r>
            <a:r>
              <a:rPr lang="ru" sz="3000"/>
              <a:t>а</a:t>
            </a:r>
            <a:r>
              <a:rPr lang="ru" sz="3000"/>
              <a:t>н</a:t>
            </a:r>
            <a:r>
              <a:rPr lang="ru" sz="3000"/>
              <a:t>д</a:t>
            </a:r>
            <a:r>
              <a:rPr lang="ru" sz="3000"/>
              <a:t>и</a:t>
            </a:r>
            <a:r>
              <a:rPr lang="ru" sz="3000"/>
              <a:t>р</a:t>
            </a:r>
            <a:r>
              <a:rPr lang="ru" sz="3000"/>
              <a:t>о</a:t>
            </a:r>
            <a:r>
              <a:rPr lang="ru" sz="3000"/>
              <a:t>в</a:t>
            </a:r>
            <a:r>
              <a:rPr lang="ru" sz="3000"/>
              <a:t>к</a:t>
            </a:r>
            <a:r>
              <a:rPr lang="ru" sz="3000"/>
              <a:t>и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64" name="Google Shape;164;p37"/>
          <p:cNvPicPr/>
          <p:nvPr/>
        </p:nvPicPr>
        <p:blipFill>
          <a:blip r:embed="rId2"/>
          <a:stretch/>
        </p:blipFill>
        <p:spPr bwMode="auto">
          <a:xfrm>
            <a:off x="630000" y="208572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 bwMode="auto"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300" b="1">
                <a:solidFill>
                  <a:srgbClr val="3F299A"/>
                </a:solidFill>
                <a:latin typeface="Roboto"/>
                <a:ea typeface="Roboto"/>
                <a:cs typeface="Roboto"/>
              </a:rPr>
              <a:t>Евгений Клишев</a:t>
            </a:r>
            <a:endParaRPr sz="2300" b="1">
              <a:solidFill>
                <a:srgbClr val="3F299A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6" name="Google Shape;166;p37"/>
          <p:cNvSpPr txBox="1"/>
          <p:nvPr/>
        </p:nvSpPr>
        <p:spPr bwMode="auto">
          <a:xfrm>
            <a:off x="3899475" y="2893374"/>
            <a:ext cx="3238200" cy="896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Руководитель группы разработки 1С</a:t>
            </a:r>
            <a:endParaRPr lang="ru-RU" sz="1300"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«Комита цифровые технологии»</a:t>
            </a:r>
            <a:endParaRPr lang="ru-RU" sz="1300"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Сертифицированный специалист 1С</a:t>
            </a:r>
            <a:endParaRPr lang="ru-RU" sz="1300">
              <a:solidFill>
                <a:srgbClr val="000000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/>
          <p:nvPr>
            <p:ph type="title"/>
          </p:nvPr>
        </p:nvSpPr>
        <p:spPr bwMode="auto"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 bwMode="auto">
          <a:xfrm>
            <a:off x="1138125" y="1491301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3" name="Google Shape;173;p38"/>
          <p:cNvSpPr/>
          <p:nvPr/>
        </p:nvSpPr>
        <p:spPr bwMode="auto"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4" name="Google Shape;174;p38"/>
          <p:cNvSpPr/>
          <p:nvPr/>
        </p:nvSpPr>
        <p:spPr bwMode="auto"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5" name="Google Shape;175;p38"/>
          <p:cNvSpPr/>
          <p:nvPr/>
        </p:nvSpPr>
        <p:spPr bwMode="auto"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76" name="Google Shape;176;p38"/>
          <p:cNvCxnSpPr>
            <a:cxnSpLocks/>
            <a:stCxn id="172" idx="1"/>
            <a:endCxn id="173" idx="1"/>
          </p:cNvCxnSpPr>
          <p:nvPr/>
        </p:nvCxnSpPr>
        <p:spPr bwMode="auto"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cxnSpLocks/>
            <a:stCxn id="173" idx="1"/>
            <a:endCxn id="174" idx="1"/>
          </p:cNvCxnSpPr>
          <p:nvPr/>
        </p:nvCxnSpPr>
        <p:spPr bwMode="auto"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cxnSpLocks/>
            <a:stCxn id="174" idx="1"/>
            <a:endCxn id="175" idx="1"/>
          </p:cNvCxnSpPr>
          <p:nvPr/>
        </p:nvCxnSpPr>
        <p:spPr bwMode="auto"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cxnSpLocks/>
            <a:stCxn id="175" idx="1"/>
            <a:endCxn id="180" idx="1"/>
          </p:cNvCxnSpPr>
          <p:nvPr/>
        </p:nvCxnSpPr>
        <p:spPr bwMode="auto">
          <a:xfrm>
            <a:off x="1138125" y="3434324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 bwMode="auto"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 bwMode="auto"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graphicFrame>
        <p:nvGraphicFramePr>
          <p:cNvPr id="186" name="Google Shape;186;p39"/>
          <p:cNvGraphicFramePr>
            <a:graphicFrameLocks xmlns:a="http://schemas.openxmlformats.org/drawingml/2006/main"/>
          </p:cNvGraphicFramePr>
          <p:nvPr/>
        </p:nvGraphicFramePr>
        <p:xfrm>
          <a:off x="952500" y="2382125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Планирование командировок руководителям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Ведение заявок на командировки в разрезе сотрудников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Контроль бюджетов на проживание и проезд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Передача информации в систему бронирования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Получение информации из системы бронирования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 bwMode="auto">
          <a:xfrm>
            <a:off x="1205836" y="1386299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Цель проекта: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з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ь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п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е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ф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л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е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я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д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у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д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endParaRPr sz="1500">
              <a:solidFill>
                <a:schemeClr val="dk1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199" name="Google Shape;199;p40"/>
          <p:cNvGraphicFramePr>
            <a:graphicFrameLocks xmlns:a="http://schemas.openxmlformats.org/drawingml/2006/main"/>
          </p:cNvGraphicFramePr>
          <p:nvPr/>
        </p:nvGraphicFramePr>
        <p:xfrm>
          <a:off x="1136587" y="1054932"/>
          <a:ext cx="6576785" cy="3583027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44008"/>
                <a:gridCol w="6123251"/>
              </a:tblGrid>
              <a:tr h="349612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BPMN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м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д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/>
                        <a:t> 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PlantUML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м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C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,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ER</a:t>
                      </a:r>
                      <a:endParaRPr sz="1000"/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9612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–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хранение и версионифицирование файлов результата проекта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Накидка – прототипирование форм реализуемого приложения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Предприятие - разработка приложения п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ланирования и ведение заявок на командировки платформа 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6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4" marT="91424" marB="91424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inkRabbitMQ - 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нешняя компонента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Native API компонента 1С с открытым исходным кодом, для обмена сообщениями через RabbitMQ</a:t>
                      </a:r>
                      <a:endParaRPr sz="1000"/>
                    </a:p>
                  </a:txBody>
                  <a:tcPr marL="198000" marR="91424" marT="91424" marB="91424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7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4" marT="91424" marB="91424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- б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рокер сообщений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4" marT="91424" marB="91424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8.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4" marT="91424" marB="91424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YaxUnit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ю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д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ф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й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ж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endParaRPr/>
                    </a:p>
                  </a:txBody>
                  <a:tcPr marL="198000" marR="91424" marT="91424" marB="91424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9.</a:t>
                      </a:r>
                      <a:endParaRPr lang="en-US"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4" marT="91424" marB="91424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Vannesa – automation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г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г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ф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endParaRPr/>
                    </a:p>
                  </a:txBody>
                  <a:tcPr marL="198000" marR="91424" marT="91424" marB="91424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97" name="Google Shape;197;p40"/>
          <p:cNvPicPr/>
          <p:nvPr/>
        </p:nvPicPr>
        <p:blipFill>
          <a:blip r:embed="rId2">
            <a:alphaModFix/>
          </a:blip>
          <a:stretch/>
        </p:blipFill>
        <p:spPr bwMode="auto">
          <a:xfrm rot="0" flipH="0" flipV="0">
            <a:off x="10029342" y="2027466"/>
            <a:ext cx="3375207" cy="1399343"/>
          </a:xfrm>
          <a:prstGeom prst="rect">
            <a:avLst/>
          </a:prstGeom>
          <a:noFill/>
          <a:ln>
            <a:noFill/>
          </a:ln>
          <a:effectLst>
            <a:outerShdw blurRad="200025" dist="28575" dir="42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/>
          <p:nvPr>
            <p:ph type="title"/>
          </p:nvPr>
        </p:nvSpPr>
        <p:spPr bwMode="auto">
          <a:xfrm flipH="0" flipV="0">
            <a:off x="500549" y="330723"/>
            <a:ext cx="8520599" cy="68803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Схема процесса </a:t>
            </a:r>
            <a:r>
              <a:rPr lang="ru-RU" sz="3000"/>
              <a:t> </a:t>
            </a:r>
            <a:r>
              <a:rPr lang="ru-RU" sz="3000"/>
              <a:t>a</a:t>
            </a:r>
            <a:r>
              <a:rPr lang="ru-RU" sz="3000"/>
              <a:t>s</a:t>
            </a:r>
            <a:r>
              <a:rPr lang="ru-RU" sz="3000"/>
              <a:t> </a:t>
            </a:r>
            <a:r>
              <a:rPr lang="ru-RU" sz="3000"/>
              <a:t>-</a:t>
            </a:r>
            <a:r>
              <a:rPr lang="ru-RU" sz="3000"/>
              <a:t> </a:t>
            </a:r>
            <a:r>
              <a:rPr lang="ru-RU" sz="3000"/>
              <a:t>i</a:t>
            </a:r>
            <a:r>
              <a:rPr lang="ru-RU" sz="3000"/>
              <a:t>s</a:t>
            </a:r>
            <a:endParaRPr sz="3000"/>
          </a:p>
        </p:txBody>
      </p:sp>
      <p:pic>
        <p:nvPicPr>
          <p:cNvPr id="52202468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0" y="955317"/>
            <a:ext cx="9143999" cy="3709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42305" name="Google Shape;204;p41"/>
          <p:cNvSpPr txBox="1"/>
          <p:nvPr>
            <p:ph type="title"/>
          </p:nvPr>
        </p:nvSpPr>
        <p:spPr bwMode="auto">
          <a:xfrm flipH="0" flipV="0">
            <a:off x="500549" y="330723"/>
            <a:ext cx="8520599" cy="68803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Схема процесса </a:t>
            </a:r>
            <a:r>
              <a:rPr lang="ru-RU" sz="3000"/>
              <a:t>t</a:t>
            </a:r>
            <a:r>
              <a:rPr lang="ru-RU" sz="3000"/>
              <a:t>o</a:t>
            </a:r>
            <a:r>
              <a:rPr lang="ru-RU" sz="3000"/>
              <a:t> </a:t>
            </a:r>
            <a:r>
              <a:rPr lang="ru-RU" sz="3000"/>
              <a:t>-</a:t>
            </a:r>
            <a:r>
              <a:rPr lang="ru-RU" sz="3000"/>
              <a:t> </a:t>
            </a:r>
            <a:r>
              <a:rPr lang="ru-RU" sz="3000"/>
              <a:t>b</a:t>
            </a:r>
            <a:r>
              <a:rPr lang="ru-RU" sz="3000"/>
              <a:t>e</a:t>
            </a:r>
            <a:endParaRPr sz="3000"/>
          </a:p>
        </p:txBody>
      </p:sp>
      <p:pic>
        <p:nvPicPr>
          <p:cNvPr id="204200604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0" y="1018760"/>
            <a:ext cx="9143999" cy="3709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450930" name="Google Shape;204;p41"/>
          <p:cNvSpPr txBox="1"/>
          <p:nvPr>
            <p:ph type="title"/>
          </p:nvPr>
        </p:nvSpPr>
        <p:spPr bwMode="auto">
          <a:xfrm flipH="0" flipV="0">
            <a:off x="500549" y="207312"/>
            <a:ext cx="8520599" cy="545161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Архитектура интеграционных решений</a:t>
            </a:r>
            <a:endParaRPr sz="3000"/>
          </a:p>
        </p:txBody>
      </p:sp>
      <p:pic>
        <p:nvPicPr>
          <p:cNvPr id="17284578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1687403" y="809624"/>
            <a:ext cx="5600195" cy="4249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862034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4789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en-US"/>
              <a:t>ER </a:t>
            </a:r>
            <a:r>
              <a:rPr lang="en-US"/>
              <a:t>д</a:t>
            </a:r>
            <a:r>
              <a:rPr lang="en-US"/>
              <a:t>и</a:t>
            </a:r>
            <a:r>
              <a:rPr lang="en-US"/>
              <a:t>а</a:t>
            </a:r>
            <a:r>
              <a:rPr lang="en-US"/>
              <a:t>г</a:t>
            </a:r>
            <a:r>
              <a:rPr lang="en-US"/>
              <a:t>р</a:t>
            </a:r>
            <a:r>
              <a:rPr lang="en-US"/>
              <a:t>а</a:t>
            </a:r>
            <a:r>
              <a:rPr lang="en-US"/>
              <a:t>м</a:t>
            </a:r>
            <a:r>
              <a:rPr lang="en-US"/>
              <a:t>м</a:t>
            </a:r>
            <a:r>
              <a:rPr lang="en-US"/>
              <a:t>а</a:t>
            </a:r>
            <a:r>
              <a:rPr lang="en-US"/>
              <a:t> </a:t>
            </a:r>
            <a:r>
              <a:rPr lang="en-US"/>
              <a:t>о</a:t>
            </a:r>
            <a:r>
              <a:rPr lang="en-US"/>
              <a:t>с</a:t>
            </a:r>
            <a:r>
              <a:rPr lang="en-US"/>
              <a:t>н</a:t>
            </a:r>
            <a:r>
              <a:rPr lang="en-US"/>
              <a:t>о</a:t>
            </a:r>
            <a:r>
              <a:rPr lang="en-US"/>
              <a:t>в</a:t>
            </a:r>
            <a:r>
              <a:rPr lang="en-US"/>
              <a:t>ы</a:t>
            </a:r>
            <a:r>
              <a:rPr lang="en-US"/>
              <a:t>х</a:t>
            </a:r>
            <a:r>
              <a:rPr lang="en-US"/>
              <a:t> </a:t>
            </a:r>
            <a:r>
              <a:rPr lang="en-US"/>
              <a:t>о</a:t>
            </a:r>
            <a:r>
              <a:rPr lang="en-US"/>
              <a:t>б</a:t>
            </a:r>
            <a:r>
              <a:rPr lang="en-US"/>
              <a:t>ъ</a:t>
            </a:r>
            <a:r>
              <a:rPr lang="en-US"/>
              <a:t>е</a:t>
            </a:r>
            <a:r>
              <a:rPr lang="en-US"/>
              <a:t>к</a:t>
            </a:r>
            <a:r>
              <a:rPr lang="en-US"/>
              <a:t>т</a:t>
            </a:r>
            <a:r>
              <a:rPr lang="en-US"/>
              <a:t>о</a:t>
            </a:r>
            <a:r>
              <a:rPr lang="en-US"/>
              <a:t>в</a:t>
            </a:r>
            <a:endParaRPr/>
          </a:p>
        </p:txBody>
      </p:sp>
      <p:pic>
        <p:nvPicPr>
          <p:cNvPr id="155550815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2180666" y="885825"/>
            <a:ext cx="4344933" cy="4044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175410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83675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Форма плана командировок</a:t>
            </a:r>
            <a:endParaRPr/>
          </a:p>
        </p:txBody>
      </p:sp>
      <p:pic>
        <p:nvPicPr>
          <p:cNvPr id="462568171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056972" y="1057274"/>
            <a:ext cx="5735326" cy="37674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984459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83675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Форма заявки на командировку</a:t>
            </a:r>
            <a:endParaRPr/>
          </a:p>
        </p:txBody>
      </p:sp>
      <p:pic>
        <p:nvPicPr>
          <p:cNvPr id="1878426129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618746" y="914400"/>
            <a:ext cx="4840177" cy="40204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400"/>
              <a:t>Выводы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213" name="Google Shape;213;p42"/>
          <p:cNvGraphicFramePr>
            <a:graphicFrameLocks xmlns:a="http://schemas.openxmlformats.org/drawingml/2006/main"/>
          </p:cNvGraphicFramePr>
          <p:nvPr/>
        </p:nvGraphicFramePr>
        <p:xfrm>
          <a:off x="952499" y="1099274"/>
          <a:ext cx="7248524" cy="1862588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Описаны модели бизнес-процессов, схемы интеграционных потоков,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диаграмма основных объектов системы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/>
                        <a:t>Реализована библиотека для работы с </a:t>
                      </a:r>
                      <a:r>
                        <a:rPr lang="ru-RU" sz="1400"/>
                        <a:t>R</a:t>
                      </a:r>
                      <a:r>
                        <a:rPr lang="ru-RU" sz="1400"/>
                        <a:t>a</a:t>
                      </a:r>
                      <a:r>
                        <a:rPr lang="ru-RU" sz="1400"/>
                        <a:t>b</a:t>
                      </a:r>
                      <a:r>
                        <a:rPr lang="ru-RU" sz="1400"/>
                        <a:t>b</a:t>
                      </a:r>
                      <a:r>
                        <a:rPr lang="ru-RU" sz="1400"/>
                        <a:t>i</a:t>
                      </a:r>
                      <a:r>
                        <a:rPr lang="ru-RU" sz="1400"/>
                        <a:t>t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M</a:t>
                      </a:r>
                      <a:r>
                        <a:rPr lang="ru-RU" sz="1400"/>
                        <a:t>Q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c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использованием внешней компоненты </a:t>
                      </a:r>
                      <a:r>
                        <a:rPr lang="en-US" sz="14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en-US" sz="14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inkRabbitMQ 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Реализована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на платформе 1С с функционалом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планирования и оформления заявок на командировку, формирования сообщений для передачи в систему бронирования, обработка входящих сообщений от системы бронирования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400"/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Реализованы юнит и сценарные тесты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400"/>
                    </a:p>
                  </a:txBody>
                  <a:tcPr marL="198000" marR="91424" marT="91424" marB="91424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Создан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репозиторий со всеми артефактами проекта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4" marT="91424" marB="91424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 bwMode="auto"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3" name="Google Shape;223;p43"/>
          <p:cNvSpPr txBox="1"/>
          <p:nvPr/>
        </p:nvSpPr>
        <p:spPr bwMode="auto"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4" name="Google Shape;224;p43"/>
          <p:cNvSpPr txBox="1"/>
          <p:nvPr/>
        </p:nvSpPr>
        <p:spPr bwMode="auto"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5" name="Google Shape;225;p43"/>
          <p:cNvSpPr txBox="1"/>
          <p:nvPr/>
        </p:nvSpPr>
        <p:spPr bwMode="auto"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6" name="Google Shape;226;p43"/>
          <p:cNvSpPr txBox="1"/>
          <p:nvPr/>
        </p:nvSpPr>
        <p:spPr bwMode="auto"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grpSp>
        <p:nvGrpSpPr>
          <p:cNvPr id="227" name="Google Shape;227;p43"/>
          <p:cNvGrpSpPr/>
          <p:nvPr/>
        </p:nvGrpSpPr>
        <p:grpSpPr bwMode="auto"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228" name="Google Shape;228;p43"/>
            <p:cNvPicPr/>
            <p:nvPr/>
          </p:nvPicPr>
          <p:blipFill>
            <a:blip r:embed="rId3">
              <a:alphaModFix/>
            </a:blip>
            <a:stretch/>
          </p:blipFill>
          <p:spPr bwMode="auto"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29" name="Google Shape;229;p43"/>
            <p:cNvSpPr txBox="1"/>
            <p:nvPr/>
          </p:nvSpPr>
          <p:spPr bwMode="auto">
            <a:xfrm>
              <a:off x="5236900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  <a:defRPr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/>
          <p:nvPr>
            <p:ph type="title" idx="4294967295"/>
          </p:nvPr>
        </p:nvSpPr>
        <p:spPr bwMode="auto"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5000">
                <a:solidFill>
                  <a:schemeClr val="lt1"/>
                </a:solidFill>
              </a:rPr>
              <a:t>Спасибо за внимание</a:t>
            </a:r>
            <a:r>
              <a:rPr lang="ru" sz="5000">
                <a:solidFill>
                  <a:schemeClr val="lt1"/>
                </a:solidFill>
              </a:rPr>
              <a:t>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Р7-Офис/2024.4.2.721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Theme 1</vt:lpstr>
      <vt:lpstr>Theme 2</vt:lpstr>
      <vt:lpstr>Theme 3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