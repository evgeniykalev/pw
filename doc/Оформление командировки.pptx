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3.xml" ContentType="application/vnd.openxmlformats-officedocument.presentationml.slide+xml"/>
  <Override PartName="/ppt/slideMasters/slideMaster2.xml" ContentType="application/vnd.openxmlformats-officedocument.presentationml.slide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s/slide2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63" r:id="rId2"/>
    <p:sldMasterId id="2147483674" r:id="rId3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147F70-C4FF-49C5-A19A-1E773BD6F60A}">
  <a:tblStyle styleId="{6F147F70-C4FF-49C5-A19A-1E773BD6F60A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ИТУЛЬНЫЙ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/>
          <p:nvPr/>
        </p:nvPicPr>
        <p:blipFill>
          <a:blip r:embed="rId2">
            <a:alphaModFix/>
          </a:blip>
          <a:srcRect l="99" t="0" r="99" b="0"/>
          <a:stretch/>
        </p:blipFill>
        <p:spPr bwMode="auto"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subTitle" idx="1"/>
          </p:nvPr>
        </p:nvSpPr>
        <p:spPr bwMode="auto"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 bwMode="auto"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Белый слайд + заголовок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 bwMode="auto"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Ваш макет 1" preserve="0" showMasterPhAnim="0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5"/>
          <p:cNvSpPr txBox="1"/>
          <p:nvPr>
            <p:ph type="body" idx="1"/>
          </p:nvPr>
        </p:nvSpPr>
        <p:spPr bwMode="auto"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ема вебинара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 bwMode="auto"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6"/>
          <p:cNvSpPr txBox="1"/>
          <p:nvPr>
            <p:ph type="subTitle" idx="1"/>
          </p:nvPr>
        </p:nvSpPr>
        <p:spPr bwMode="auto"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6"/>
          <p:cNvSpPr txBox="1"/>
          <p:nvPr>
            <p:ph type="subTitle" idx="2"/>
          </p:nvPr>
        </p:nvSpPr>
        <p:spPr bwMode="auto"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6"/>
          <p:cNvSpPr txBox="1"/>
          <p:nvPr>
            <p:ph type="subTitle" idx="3"/>
          </p:nvPr>
        </p:nvSpPr>
        <p:spPr bwMode="auto"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8" name="Google Shape;28;p6"/>
          <p:cNvSpPr txBox="1"/>
          <p:nvPr>
            <p:ph type="subTitle" idx="4"/>
          </p:nvPr>
        </p:nvSpPr>
        <p:spPr bwMode="auto"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ительный слайд" preserve="0" showMasterPhAnim="0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  <p:pic>
        <p:nvPicPr>
          <p:cNvPr id="31" name="Google Shape;31;p7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 bwMode="auto"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 себе" preserve="0" showMasterPhAnim="0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8"/>
          <p:cNvSpPr txBox="1"/>
          <p:nvPr>
            <p:ph type="subTitle" idx="1"/>
          </p:nvPr>
        </p:nvSpPr>
        <p:spPr bwMode="auto"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8"/>
          <p:cNvSpPr txBox="1"/>
          <p:nvPr>
            <p:ph type="subTitle" idx="2"/>
          </p:nvPr>
        </p:nvSpPr>
        <p:spPr bwMode="auto"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аздел+описание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 bwMode="auto">
          <a:xfrm>
            <a:off x="609075" y="12208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9"/>
          <p:cNvSpPr txBox="1"/>
          <p:nvPr>
            <p:ph type="subTitle" idx="1"/>
          </p:nvPr>
        </p:nvSpPr>
        <p:spPr bwMode="auto">
          <a:xfrm>
            <a:off x="609075" y="2916213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1" preserve="0" showMasterPhAnim="0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12"/>
          <p:cNvSpPr/>
          <p:nvPr/>
        </p:nvSpPr>
        <p:spPr bwMode="auto"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0" name="Google Shape;50;p12"/>
          <p:cNvSpPr txBox="1"/>
          <p:nvPr>
            <p:ph type="subTitle" idx="1"/>
          </p:nvPr>
        </p:nvSpPr>
        <p:spPr bwMode="auto"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2" preserve="0" showMasterPhAnim="0" userDrawn="1">
  <p:cSld name="CUSTOM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3"/>
          <p:cNvSpPr/>
          <p:nvPr/>
        </p:nvSpPr>
        <p:spPr bwMode="auto"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4" name="Google Shape;54;p13"/>
          <p:cNvSpPr txBox="1"/>
          <p:nvPr>
            <p:ph type="subTitle" idx="1"/>
          </p:nvPr>
        </p:nvSpPr>
        <p:spPr bwMode="auto"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1" preserve="0" showMasterPhAnim="0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14"/>
          <p:cNvSpPr txBox="1"/>
          <p:nvPr>
            <p:ph type="subTitle" idx="1"/>
          </p:nvPr>
        </p:nvSpPr>
        <p:spPr bwMode="auto"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14"/>
          <p:cNvSpPr/>
          <p:nvPr/>
        </p:nvSpPr>
        <p:spPr bwMode="auto"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" name="Google Shape;59;p14"/>
          <p:cNvSpPr txBox="1"/>
          <p:nvPr>
            <p:ph type="subTitle" idx="2"/>
          </p:nvPr>
        </p:nvSpPr>
        <p:spPr bwMode="auto"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2" preserve="0" showMasterPhAnim="0" userDrawn="1">
  <p:cSld name="CUSTOM_4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15"/>
          <p:cNvSpPr/>
          <p:nvPr/>
        </p:nvSpPr>
        <p:spPr bwMode="auto"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3" name="Google Shape;63;p15"/>
          <p:cNvSpPr txBox="1"/>
          <p:nvPr>
            <p:ph type="subTitle" idx="1"/>
          </p:nvPr>
        </p:nvSpPr>
        <p:spPr bwMode="auto"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15"/>
          <p:cNvSpPr txBox="1"/>
          <p:nvPr>
            <p:ph type="subTitle" idx="2"/>
          </p:nvPr>
        </p:nvSpPr>
        <p:spPr bwMode="auto"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блок текст + картинка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 bwMode="auto">
          <a:xfrm>
            <a:off x="495300" y="1493849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  <p:pic>
        <p:nvPicPr>
          <p:cNvPr id="71" name="Google Shape;71;p1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Цитата, фон градиент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 bwMode="auto"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этапы процесса" preserve="0" showMasterPhAnim="0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77" name="Google Shape;77;p1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 bwMode="auto"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2" name="Google Shape;82;p19"/>
          <p:cNvSpPr txBox="1"/>
          <p:nvPr/>
        </p:nvSpPr>
        <p:spPr bwMode="auto"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3" name="Google Shape;83;p19"/>
          <p:cNvSpPr txBox="1"/>
          <p:nvPr/>
        </p:nvSpPr>
        <p:spPr bwMode="auto"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4" name="Google Shape;84;p19"/>
          <p:cNvSpPr txBox="1"/>
          <p:nvPr/>
        </p:nvSpPr>
        <p:spPr bwMode="auto"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5" name="Google Shape;85;p19"/>
          <p:cNvSpPr txBox="1"/>
          <p:nvPr/>
        </p:nvSpPr>
        <p:spPr bwMode="auto">
          <a:xfrm>
            <a:off x="982906" y="3241600"/>
            <a:ext cx="1523099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6" name="Google Shape;86;p19"/>
          <p:cNvSpPr txBox="1"/>
          <p:nvPr/>
        </p:nvSpPr>
        <p:spPr bwMode="auto">
          <a:xfrm>
            <a:off x="2828343" y="3241600"/>
            <a:ext cx="1523099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7" name="Google Shape;87;p19"/>
          <p:cNvSpPr txBox="1"/>
          <p:nvPr/>
        </p:nvSpPr>
        <p:spPr bwMode="auto">
          <a:xfrm>
            <a:off x="4587670" y="3241600"/>
            <a:ext cx="1523099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8" name="Google Shape;88;p19"/>
          <p:cNvSpPr txBox="1"/>
          <p:nvPr/>
        </p:nvSpPr>
        <p:spPr bwMode="auto">
          <a:xfrm>
            <a:off x="6407056" y="3241600"/>
            <a:ext cx="1523099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  <a:defRPr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писок в 2 колонки " preserve="0" showMasterPhAnim="0" userDrawn="1">
  <p:cSld name="CUSTOM_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aphicFrame>
        <p:nvGraphicFramePr>
          <p:cNvPr id="91" name="Google Shape;91;p20"/>
          <p:cNvGraphicFramePr>
            <a:graphicFrameLocks xmlns:a="http://schemas.openxmlformats.org/drawingml/2006/main"/>
          </p:cNvGraphicFramePr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{6F147F70-C4FF-49C5-A19A-1E773BD6F60A}</a:tableStyleId>
                <a:noFill/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FFFFFF"/>
                      </a:solidFill>
                    </a:lnL>
                    <a:lnR w="9525" algn="ctr">
                      <a:solidFill>
                        <a:srgbClr val="FFFFFF"/>
                      </a:solidFill>
                    </a:lnR>
                    <a:lnT w="9525" algn="ctr">
                      <a:solidFill>
                        <a:srgbClr val="FFFFFF"/>
                      </a:solidFill>
                    </a:lnT>
                    <a:lnB w="952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  <a:defRPr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FFFFFF"/>
                      </a:solidFill>
                    </a:lnL>
                    <a:lnR w="9525" algn="ctr">
                      <a:solidFill>
                        <a:srgbClr val="FFFFFF"/>
                      </a:solidFill>
                    </a:lnR>
                    <a:lnT w="9525" algn="ctr">
                      <a:solidFill>
                        <a:srgbClr val="FFFFFF"/>
                      </a:solidFill>
                    </a:lnT>
                    <a:lnB w="9525" algn="ctr">
                      <a:solidFill>
                        <a:srgbClr val="FFFFFF"/>
                      </a:solidFill>
                    </a:lnB>
                  </a:tcPr>
                </a:tc>
              </a:tr>
              <a:tr h="1016175">
                <a:tc>
                  <a:txBody>
                    <a:bodyPr/>
                    <a:p>
                      <a:pPr marL="457200" lvl="0" indent="-32385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  <a:defRPr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57200" lvl="0" indent="-32385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  <a:defRPr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57200" lvl="0" indent="-32385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  <a:defRPr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algn="ctr">
                      <a:solidFill>
                        <a:srgbClr val="FFFFFF"/>
                      </a:solidFill>
                    </a:lnL>
                    <a:lnR w="9525" algn="ctr">
                      <a:solidFill>
                        <a:srgbClr val="FFFFFF"/>
                      </a:solidFill>
                    </a:lnR>
                    <a:lnT w="9525" algn="ctr">
                      <a:solidFill>
                        <a:srgbClr val="FFFFFF"/>
                      </a:solidFill>
                    </a:lnT>
                    <a:lnB w="9525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p>
                      <a:pPr marL="457200" lvl="0" indent="-31750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  <a:defRPr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57200" lvl="0" indent="-32385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  <a:defRPr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457200" lvl="0" indent="-32385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  <a:defRPr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FFFFFF"/>
                      </a:solidFill>
                    </a:lnL>
                    <a:lnR w="9525" algn="ctr">
                      <a:solidFill>
                        <a:srgbClr val="FFFFFF"/>
                      </a:solidFill>
                    </a:lnR>
                    <a:lnT w="9525" algn="ctr">
                      <a:solidFill>
                        <a:srgbClr val="FFFFFF"/>
                      </a:solidFill>
                    </a:lnT>
                    <a:lnB w="9525" algn="ctr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сылка на источник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 bwMode="auto"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подтемой" preserve="0" showMasterPhAnim="0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 bwMode="auto"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аблица " preserve="0" showMasterPhAnim="0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aphicFrame>
        <p:nvGraphicFramePr>
          <p:cNvPr id="98" name="Google Shape;98;p23"/>
          <p:cNvGraphicFramePr>
            <a:graphicFrameLocks xmlns:a="http://schemas.openxmlformats.org/drawingml/2006/main"/>
          </p:cNvGraphicFramePr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{6F147F70-C4FF-49C5-A19A-1E773BD6F60A}</a:tableStyleId>
                <a:noFill/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</a:tr>
              <a:tr h="4203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</a:tr>
              <a:tr h="4203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</a:tr>
              <a:tr h="4203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</a:tr>
              <a:tr h="4203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3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9525" algn="ctr">
                      <a:solidFill>
                        <a:srgbClr val="D9D9D9"/>
                      </a:solidFill>
                    </a:lnL>
                    <a:lnR w="9525" algn="ctr">
                      <a:solidFill>
                        <a:srgbClr val="D9D9D9"/>
                      </a:solidFill>
                    </a:lnR>
                    <a:lnT w="9525" algn="ctr">
                      <a:solidFill>
                        <a:srgbClr val="D9D9D9"/>
                      </a:solidFill>
                    </a:lnT>
                    <a:lnB w="9525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 плашки + иллюстрация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  <p:sp>
        <p:nvSpPr>
          <p:cNvPr id="101" name="Google Shape;101;p24"/>
          <p:cNvSpPr/>
          <p:nvPr/>
        </p:nvSpPr>
        <p:spPr bwMode="auto"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02" name="Google Shape;102;p24"/>
          <p:cNvSpPr/>
          <p:nvPr/>
        </p:nvSpPr>
        <p:spPr bwMode="auto"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03" name="Google Shape;103;p24"/>
          <p:cNvSpPr/>
          <p:nvPr/>
        </p:nvSpPr>
        <p:spPr bwMode="auto"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04" name="Google Shape;104;p24"/>
          <p:cNvSpPr/>
          <p:nvPr/>
        </p:nvSpPr>
        <p:spPr bwMode="auto"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pic>
        <p:nvPicPr>
          <p:cNvPr id="105" name="Google Shape;105;p2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 блока" preserve="0" showMasterPhAnim="0" userDrawn="1">
  <p:cSld name="CUSTOM_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" name="Google Shape;110;p26"/>
          <p:cNvSpPr/>
          <p:nvPr/>
        </p:nvSpPr>
        <p:spPr bwMode="auto">
          <a:xfrm>
            <a:off x="932712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1" name="Google Shape;111;p26"/>
          <p:cNvSpPr/>
          <p:nvPr/>
        </p:nvSpPr>
        <p:spPr bwMode="auto"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2" name="Google Shape;112;p26"/>
          <p:cNvSpPr/>
          <p:nvPr/>
        </p:nvSpPr>
        <p:spPr bwMode="auto"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3" name="Google Shape;113;p26"/>
          <p:cNvSpPr txBox="1"/>
          <p:nvPr/>
        </p:nvSpPr>
        <p:spPr bwMode="auto"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 bwMode="auto"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 bwMode="auto"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Важный тезис крупным шрифтом 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 bwMode="auto"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22" name="Google Shape;122;p2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 bwMode="auto">
          <a:xfrm>
            <a:off x="500550" y="330736"/>
            <a:ext cx="8520600" cy="979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1" preserve="0" showMasterPhAnim="0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 bwMode="auto">
          <a:xfrm>
            <a:off x="500550" y="330736"/>
            <a:ext cx="8520600" cy="979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31"/>
          <p:cNvSpPr/>
          <p:nvPr/>
        </p:nvSpPr>
        <p:spPr bwMode="auto"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" name="Google Shape;130;p31"/>
          <p:cNvSpPr txBox="1"/>
          <p:nvPr>
            <p:ph type="subTitle" idx="1"/>
          </p:nvPr>
        </p:nvSpPr>
        <p:spPr bwMode="auto"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подтемой" preserve="0" showMasterPhAnim="0" userDrawn="1">
  <p:cSld name="MAIN_POINT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 bwMode="auto"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с кодом 2 1" preserve="0" showMasterPhAnim="0" userDrawn="1">
  <p:cSld name="CUSTOM_2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" name="Google Shape;135;p33"/>
          <p:cNvSpPr/>
          <p:nvPr/>
        </p:nvSpPr>
        <p:spPr bwMode="auto"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" name="Google Shape;136;p33"/>
          <p:cNvSpPr txBox="1"/>
          <p:nvPr>
            <p:ph type="subTitle" idx="1"/>
          </p:nvPr>
        </p:nvSpPr>
        <p:spPr bwMode="auto"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лайд КОД+ТЕКСТ 1 1" preserve="0" showMasterPhAnim="0" userDrawn="1">
  <p:cSld name="CUSTOM_4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" name="Google Shape;139;p34"/>
          <p:cNvSpPr txBox="1"/>
          <p:nvPr>
            <p:ph type="subTitle" idx="1"/>
          </p:nvPr>
        </p:nvSpPr>
        <p:spPr bwMode="auto"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0" name="Google Shape;140;p34"/>
          <p:cNvSpPr/>
          <p:nvPr/>
        </p:nvSpPr>
        <p:spPr bwMode="auto"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" name="Google Shape;141;p34"/>
          <p:cNvSpPr txBox="1"/>
          <p:nvPr>
            <p:ph type="subTitle" idx="2"/>
          </p:nvPr>
        </p:nvSpPr>
        <p:spPr bwMode="auto"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 lvl="1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12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theme" Target="../theme/theme3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>
          <a:blip r:embed="rId16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>
          <a:blip r:embed="rId1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6"/>
          <p:cNvSpPr txBox="1"/>
          <p:nvPr>
            <p:ph type="body" idx="1"/>
          </p:nvPr>
        </p:nvSpPr>
        <p:spPr bwMode="auto"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1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>
          <a:blip r:embed="rId9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 bwMode="auto">
          <a:xfrm>
            <a:off x="500550" y="330736"/>
            <a:ext cx="8520600" cy="97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" name="Google Shape;118;p27"/>
          <p:cNvSpPr txBox="1"/>
          <p:nvPr>
            <p:ph type="body" idx="1"/>
          </p:nvPr>
        </p:nvSpPr>
        <p:spPr bwMode="auto"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9" name="Google Shape;119;p2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media1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media2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media3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media4.sv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0.png"/><Relationship Id="rId3" Type="http://schemas.openxmlformats.org/officeDocument/2006/relationships/image" Target="../media/image3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/>
          <p:nvPr/>
        </p:nvPicPr>
        <p:blipFill>
          <a:blip r:embed="rId2">
            <a:alphaModFix/>
          </a:blip>
          <a:srcRect l="18598" t="0" r="18591" b="0"/>
          <a:stretch/>
        </p:blipFill>
        <p:spPr bwMode="auto"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 bwMode="auto">
          <a:xfrm>
            <a:off x="433125" y="1534950"/>
            <a:ext cx="7600139" cy="731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0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Оформление командировки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48" name="Google Shape;148;p3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 bwMode="auto"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50" name="Google Shape;150;p35"/>
          <p:cNvSpPr txBox="1"/>
          <p:nvPr/>
        </p:nvSpPr>
        <p:spPr bwMode="auto">
          <a:xfrm>
            <a:off x="886050" y="4127374"/>
            <a:ext cx="2412839" cy="44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АРХИТЕКТОР 1С</a:t>
            </a:r>
            <a:endParaRPr sz="100">
              <a:latin typeface="Roboto Medium"/>
              <a:ea typeface="Roboto Medium"/>
              <a:cs typeface="Roboto Medium"/>
            </a:endParaRPr>
          </a:p>
        </p:txBody>
      </p:sp>
      <p:pic>
        <p:nvPicPr>
          <p:cNvPr id="151" name="Google Shape;151;p35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409722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 bwMode="auto"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 bwMode="auto"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3000"/>
              <a:t>Тема: </a:t>
            </a:r>
            <a:r>
              <a:rPr lang="ru" sz="3000"/>
              <a:t>О</a:t>
            </a:r>
            <a:r>
              <a:rPr lang="ru" sz="3000"/>
              <a:t>ф</a:t>
            </a:r>
            <a:r>
              <a:rPr lang="ru" sz="3000"/>
              <a:t>о</a:t>
            </a:r>
            <a:r>
              <a:rPr lang="ru" sz="3000"/>
              <a:t>р</a:t>
            </a:r>
            <a:r>
              <a:rPr lang="ru" sz="3000"/>
              <a:t>м</a:t>
            </a:r>
            <a:r>
              <a:rPr lang="ru" sz="3000"/>
              <a:t>л</a:t>
            </a:r>
            <a:r>
              <a:rPr lang="ru" sz="3000"/>
              <a:t>е</a:t>
            </a:r>
            <a:r>
              <a:rPr lang="ru" sz="3000"/>
              <a:t>н</a:t>
            </a:r>
            <a:r>
              <a:rPr lang="ru" sz="3000"/>
              <a:t>и</a:t>
            </a:r>
            <a:r>
              <a:rPr lang="ru" sz="3000"/>
              <a:t>е</a:t>
            </a:r>
            <a:r>
              <a:rPr lang="ru" sz="3000"/>
              <a:t> </a:t>
            </a:r>
            <a:r>
              <a:rPr lang="ru" sz="3000"/>
              <a:t>к</a:t>
            </a:r>
            <a:r>
              <a:rPr lang="ru" sz="3000"/>
              <a:t>о</a:t>
            </a:r>
            <a:r>
              <a:rPr lang="ru" sz="3000"/>
              <a:t>м</a:t>
            </a:r>
            <a:r>
              <a:rPr lang="ru" sz="3000"/>
              <a:t>а</a:t>
            </a:r>
            <a:r>
              <a:rPr lang="ru" sz="3000"/>
              <a:t>н</a:t>
            </a:r>
            <a:r>
              <a:rPr lang="ru" sz="3000"/>
              <a:t>д</a:t>
            </a:r>
            <a:r>
              <a:rPr lang="ru" sz="3000"/>
              <a:t>и</a:t>
            </a:r>
            <a:r>
              <a:rPr lang="ru" sz="3000"/>
              <a:t>р</a:t>
            </a:r>
            <a:r>
              <a:rPr lang="ru" sz="3000"/>
              <a:t>о</a:t>
            </a:r>
            <a:r>
              <a:rPr lang="ru" sz="3000"/>
              <a:t>в</a:t>
            </a:r>
            <a:r>
              <a:rPr lang="ru" sz="3000"/>
              <a:t>к</a:t>
            </a:r>
            <a:r>
              <a:rPr lang="ru" sz="3000"/>
              <a:t>и</a:t>
            </a:r>
            <a:endParaRPr sz="3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64" name="Google Shape;164;p37"/>
          <p:cNvPicPr/>
          <p:nvPr/>
        </p:nvPicPr>
        <p:blipFill>
          <a:blip r:embed="rId2"/>
          <a:stretch/>
        </p:blipFill>
        <p:spPr bwMode="auto"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 bwMode="auto"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300" b="1">
                <a:solidFill>
                  <a:srgbClr val="3F299A"/>
                </a:solidFill>
                <a:latin typeface="Roboto"/>
                <a:ea typeface="Roboto"/>
                <a:cs typeface="Roboto"/>
              </a:rPr>
              <a:t>Евгений Клишев</a:t>
            </a:r>
            <a:endParaRPr sz="2300" b="1">
              <a:solidFill>
                <a:srgbClr val="3F299A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6" name="Google Shape;166;p37"/>
          <p:cNvSpPr txBox="1"/>
          <p:nvPr/>
        </p:nvSpPr>
        <p:spPr bwMode="auto">
          <a:xfrm>
            <a:off x="3899475" y="2893374"/>
            <a:ext cx="3238200" cy="89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>
                <a:latin typeface="Roboto Medium"/>
                <a:ea typeface="Roboto Medium"/>
                <a:cs typeface="Roboto Medium"/>
              </a:rPr>
              <a:t>Руководитель группы разработки 1С</a:t>
            </a:r>
            <a:endParaRPr lang="ru-RU" sz="1300">
              <a:latin typeface="Roboto Medium"/>
              <a:ea typeface="Roboto Medium"/>
              <a:cs typeface="Roboto Medium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>
                <a:latin typeface="Roboto Medium"/>
                <a:ea typeface="Roboto Medium"/>
                <a:cs typeface="Roboto Medium"/>
              </a:rPr>
              <a:t>«Комита цифровые технологии»</a:t>
            </a:r>
            <a:endParaRPr lang="ru-RU" sz="1300">
              <a:latin typeface="Roboto Medium"/>
              <a:ea typeface="Roboto Medium"/>
              <a:cs typeface="Roboto Medium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>
                <a:latin typeface="Roboto Medium"/>
                <a:ea typeface="Roboto Medium"/>
                <a:cs typeface="Roboto Medium"/>
              </a:rPr>
              <a:t>Сертифицированный специалист 1С</a:t>
            </a:r>
            <a:endParaRPr lang="ru-RU" sz="1300">
              <a:solidFill>
                <a:srgbClr val="000000"/>
              </a:solidFill>
              <a:latin typeface="Roboto Medium"/>
              <a:ea typeface="Roboto Medium"/>
              <a:cs typeface="Robot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 bwMode="auto"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 bwMode="auto">
          <a:xfrm>
            <a:off x="1138125" y="1491301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3" name="Google Shape;173;p38"/>
          <p:cNvSpPr/>
          <p:nvPr/>
        </p:nvSpPr>
        <p:spPr bwMode="auto"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4" name="Google Shape;174;p38"/>
          <p:cNvSpPr/>
          <p:nvPr/>
        </p:nvSpPr>
        <p:spPr bwMode="auto"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5" name="Google Shape;175;p38"/>
          <p:cNvSpPr/>
          <p:nvPr/>
        </p:nvSpPr>
        <p:spPr bwMode="auto"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76" name="Google Shape;176;p38"/>
          <p:cNvCxnSpPr>
            <a:cxnSpLocks/>
            <a:stCxn id="172" idx="1"/>
            <a:endCxn id="173" idx="1"/>
          </p:cNvCxnSpPr>
          <p:nvPr/>
        </p:nvCxnSpPr>
        <p:spPr bwMode="auto"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cxnSpLocks/>
            <a:stCxn id="173" idx="1"/>
            <a:endCxn id="174" idx="1"/>
          </p:cNvCxnSpPr>
          <p:nvPr/>
        </p:nvCxnSpPr>
        <p:spPr bwMode="auto"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cxnSpLocks/>
            <a:stCxn id="174" idx="1"/>
            <a:endCxn id="175" idx="1"/>
          </p:cNvCxnSpPr>
          <p:nvPr/>
        </p:nvCxnSpPr>
        <p:spPr bwMode="auto"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cxnSpLocks/>
            <a:stCxn id="175" idx="1"/>
            <a:endCxn id="180" idx="1"/>
          </p:cNvCxnSpPr>
          <p:nvPr/>
        </p:nvCxnSpPr>
        <p:spPr bwMode="auto">
          <a:xfrm>
            <a:off x="1138125" y="3434324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 bwMode="auto"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 bwMode="auto"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graphicFrame>
        <p:nvGraphicFramePr>
          <p:cNvPr id="186" name="Google Shape;186;p39"/>
          <p:cNvGraphicFramePr>
            <a:graphicFrameLocks xmlns:a="http://schemas.openxmlformats.org/drawingml/2006/main"/>
          </p:cNvGraphicFramePr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{6F147F70-C4FF-49C5-A19A-1E773BD6F60A}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Планирование командировок руководителям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Ведение заявок на командировки в разрезе сотрудников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Контроль бюджетов на проживание и проезд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Передача информации в систему бронирования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Получение информации из системы бронирования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 bwMode="auto">
          <a:xfrm>
            <a:off x="1205836" y="1386299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Цель проекта: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а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в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т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м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а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т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и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з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и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р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в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а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т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ь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п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р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ц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е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ф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р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м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л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е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н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и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я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к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м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а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н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д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и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р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в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к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т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р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у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д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н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и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к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о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</a:rPr>
              <a:t>в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000"/>
          </a:p>
        </p:txBody>
      </p:sp>
      <p:graphicFrame>
        <p:nvGraphicFramePr>
          <p:cNvPr id="199" name="Google Shape;199;p40"/>
          <p:cNvGraphicFramePr>
            <a:graphicFrameLocks xmlns:a="http://schemas.openxmlformats.org/drawingml/2006/main"/>
          </p:cNvGraphicFramePr>
          <p:nvPr/>
        </p:nvGraphicFramePr>
        <p:xfrm>
          <a:off x="1136587" y="1054932"/>
          <a:ext cx="6576785" cy="3583027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{6F147F70-C4FF-49C5-A19A-1E773BD6F60A}</a:tableStyleId>
                <a:noFill/>
              </a:tblPr>
              <a:tblGrid>
                <a:gridCol w="444008"/>
                <a:gridCol w="6123251"/>
              </a:tblGrid>
              <a:tr h="349612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BPMN –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б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1000"/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PlantUML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–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х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ы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ы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х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C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ER</a:t>
                      </a:r>
                      <a:endParaRPr sz="1000"/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9612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– 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хранение и версионифицирование файлов результата проекта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1С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Накидка – прототипирование форм реализуемого приложения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1С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Предприятие - разработка приложения п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ланирования и ведение заявок на командировки платформа 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lang="en-US" sz="10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inkRabbitMQ - </a:t>
                      </a:r>
                      <a:r>
                        <a:rPr lang="en-US" sz="10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нешняя компонента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Native API компонента 1С с открытым исходным кодом, для обмена сообщениями через RabbitMQ</a:t>
                      </a:r>
                      <a:endParaRPr sz="1000"/>
                    </a:p>
                  </a:txBody>
                  <a:tcPr marL="198000" marR="91423" marT="91423" marB="91423">
                    <a:lnL w="9524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7</a:t>
                      </a:r>
                      <a:r>
                        <a:rPr lang="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- б</a:t>
                      </a:r>
                      <a:r>
                        <a:rPr lang="ru-RU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рокер сообщений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8.</a:t>
                      </a:r>
                      <a:endParaRPr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YaxUnit –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ю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б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ы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х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ф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й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endParaRPr/>
                    </a:p>
                  </a:txBody>
                  <a:tcPr marL="198000" marR="91423" marT="91423" marB="91423">
                    <a:lnL w="9524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448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0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9.</a:t>
                      </a:r>
                      <a:endParaRPr lang="en-US" sz="10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Vannesa – automation –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г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в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б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г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ф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ц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</a:t>
                      </a:r>
                      <a:r>
                        <a:rPr lang="en-US" sz="10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а</a:t>
                      </a:r>
                      <a:endParaRPr/>
                    </a:p>
                  </a:txBody>
                  <a:tcPr marL="198000" marR="91423" marT="91423" marB="91423">
                    <a:lnL w="9524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97" name="Google Shape;197;p40"/>
          <p:cNvPicPr/>
          <p:nvPr/>
        </p:nvPicPr>
        <p:blipFill>
          <a:blip r:embed="rId2">
            <a:alphaModFix/>
          </a:blip>
          <a:stretch/>
        </p:blipFill>
        <p:spPr bwMode="auto">
          <a:xfrm rot="0" flipH="0" flipV="0">
            <a:off x="10029342" y="2027466"/>
            <a:ext cx="3375207" cy="1399343"/>
          </a:xfrm>
          <a:prstGeom prst="rect">
            <a:avLst/>
          </a:prstGeom>
          <a:noFill/>
          <a:ln>
            <a:noFill/>
          </a:ln>
          <a:effectLst>
            <a:outerShdw blurRad="200025" dist="28575" dir="42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 bwMode="auto">
          <a:xfrm flipH="0" flipV="0">
            <a:off x="500549" y="330723"/>
            <a:ext cx="8520599" cy="688036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000"/>
              <a:t>Схема процесса </a:t>
            </a:r>
            <a:r>
              <a:rPr lang="ru-RU" sz="3000"/>
              <a:t> </a:t>
            </a:r>
            <a:r>
              <a:rPr lang="ru-RU" sz="3000"/>
              <a:t>a</a:t>
            </a:r>
            <a:r>
              <a:rPr lang="ru-RU" sz="3000"/>
              <a:t>s</a:t>
            </a:r>
            <a:r>
              <a:rPr lang="ru-RU" sz="3000"/>
              <a:t> </a:t>
            </a:r>
            <a:r>
              <a:rPr lang="ru-RU" sz="3000"/>
              <a:t>-</a:t>
            </a:r>
            <a:r>
              <a:rPr lang="ru-RU" sz="3000"/>
              <a:t> </a:t>
            </a:r>
            <a:r>
              <a:rPr lang="ru-RU" sz="3000"/>
              <a:t>i</a:t>
            </a:r>
            <a:r>
              <a:rPr lang="ru-RU" sz="3000"/>
              <a:t>s</a:t>
            </a:r>
            <a:endParaRPr sz="3000"/>
          </a:p>
        </p:txBody>
      </p:sp>
      <p:pic>
        <p:nvPicPr>
          <p:cNvPr id="522024683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 flipH="0" flipV="0">
            <a:off x="0" y="955317"/>
            <a:ext cx="9143999" cy="3709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2305" name="Google Shape;204;p41"/>
          <p:cNvSpPr txBox="1"/>
          <p:nvPr>
            <p:ph type="title"/>
          </p:nvPr>
        </p:nvSpPr>
        <p:spPr bwMode="auto">
          <a:xfrm flipH="0" flipV="0">
            <a:off x="500549" y="330723"/>
            <a:ext cx="8520599" cy="688036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000"/>
              <a:t>Схема процесса </a:t>
            </a:r>
            <a:r>
              <a:rPr lang="ru-RU" sz="3000"/>
              <a:t>t</a:t>
            </a:r>
            <a:r>
              <a:rPr lang="ru-RU" sz="3000"/>
              <a:t>o</a:t>
            </a:r>
            <a:r>
              <a:rPr lang="ru-RU" sz="3000"/>
              <a:t> </a:t>
            </a:r>
            <a:r>
              <a:rPr lang="ru-RU" sz="3000"/>
              <a:t>-</a:t>
            </a:r>
            <a:r>
              <a:rPr lang="ru-RU" sz="3000"/>
              <a:t> </a:t>
            </a:r>
            <a:r>
              <a:rPr lang="ru-RU" sz="3000"/>
              <a:t>b</a:t>
            </a:r>
            <a:r>
              <a:rPr lang="ru-RU" sz="3000"/>
              <a:t>e</a:t>
            </a:r>
            <a:endParaRPr sz="3000"/>
          </a:p>
        </p:txBody>
      </p:sp>
      <p:pic>
        <p:nvPicPr>
          <p:cNvPr id="2042006045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1018760"/>
            <a:ext cx="9143999" cy="3709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450930" name="Google Shape;204;p41"/>
          <p:cNvSpPr txBox="1"/>
          <p:nvPr>
            <p:ph type="title"/>
          </p:nvPr>
        </p:nvSpPr>
        <p:spPr bwMode="auto">
          <a:xfrm flipH="0" flipV="0">
            <a:off x="500549" y="207312"/>
            <a:ext cx="8520599" cy="545161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3000"/>
              <a:t>Архитектура интеграционных решений</a:t>
            </a:r>
            <a:endParaRPr sz="3000"/>
          </a:p>
        </p:txBody>
      </p:sp>
      <p:pic>
        <p:nvPicPr>
          <p:cNvPr id="172845785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 flipH="0" flipV="0">
            <a:off x="1687403" y="809624"/>
            <a:ext cx="5600195" cy="4249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862034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4789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en-US"/>
              <a:t>ER </a:t>
            </a:r>
            <a:r>
              <a:rPr lang="en-US"/>
              <a:t>д</a:t>
            </a:r>
            <a:r>
              <a:rPr lang="en-US"/>
              <a:t>и</a:t>
            </a:r>
            <a:r>
              <a:rPr lang="en-US"/>
              <a:t>а</a:t>
            </a:r>
            <a:r>
              <a:rPr lang="en-US"/>
              <a:t>г</a:t>
            </a:r>
            <a:r>
              <a:rPr lang="en-US"/>
              <a:t>р</a:t>
            </a:r>
            <a:r>
              <a:rPr lang="en-US"/>
              <a:t>а</a:t>
            </a:r>
            <a:r>
              <a:rPr lang="en-US"/>
              <a:t>м</a:t>
            </a:r>
            <a:r>
              <a:rPr lang="en-US"/>
              <a:t>м</a:t>
            </a:r>
            <a:r>
              <a:rPr lang="en-US"/>
              <a:t>а</a:t>
            </a:r>
            <a:r>
              <a:rPr lang="en-US"/>
              <a:t> </a:t>
            </a:r>
            <a:r>
              <a:rPr lang="en-US"/>
              <a:t>о</a:t>
            </a:r>
            <a:r>
              <a:rPr lang="en-US"/>
              <a:t>с</a:t>
            </a:r>
            <a:r>
              <a:rPr lang="en-US"/>
              <a:t>н</a:t>
            </a:r>
            <a:r>
              <a:rPr lang="en-US"/>
              <a:t>о</a:t>
            </a:r>
            <a:r>
              <a:rPr lang="en-US"/>
              <a:t>в</a:t>
            </a:r>
            <a:r>
              <a:rPr lang="en-US"/>
              <a:t>ы</a:t>
            </a:r>
            <a:r>
              <a:rPr lang="en-US"/>
              <a:t>х</a:t>
            </a:r>
            <a:r>
              <a:rPr lang="en-US"/>
              <a:t> </a:t>
            </a:r>
            <a:r>
              <a:rPr lang="en-US"/>
              <a:t>о</a:t>
            </a:r>
            <a:r>
              <a:rPr lang="en-US"/>
              <a:t>б</a:t>
            </a:r>
            <a:r>
              <a:rPr lang="en-US"/>
              <a:t>ъ</a:t>
            </a:r>
            <a:r>
              <a:rPr lang="en-US"/>
              <a:t>е</a:t>
            </a:r>
            <a:r>
              <a:rPr lang="en-US"/>
              <a:t>к</a:t>
            </a:r>
            <a:r>
              <a:rPr lang="en-US"/>
              <a:t>т</a:t>
            </a:r>
            <a:r>
              <a:rPr lang="en-US"/>
              <a:t>о</a:t>
            </a:r>
            <a:r>
              <a:rPr lang="en-US"/>
              <a:t>в</a:t>
            </a:r>
            <a:endParaRPr/>
          </a:p>
        </p:txBody>
      </p:sp>
      <p:pic>
        <p:nvPicPr>
          <p:cNvPr id="1555508159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 flipH="0" flipV="0">
            <a:off x="2180666" y="885825"/>
            <a:ext cx="4344933" cy="4044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175410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58367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Прототип формы плана командировок</a:t>
            </a:r>
            <a:endParaRPr/>
          </a:p>
        </p:txBody>
      </p:sp>
      <p:pic>
        <p:nvPicPr>
          <p:cNvPr id="46256817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56972" y="1057274"/>
            <a:ext cx="5735326" cy="3767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429522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621775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Форма плана командировок</a:t>
            </a:r>
            <a:endParaRPr/>
          </a:p>
        </p:txBody>
      </p:sp>
      <p:pic>
        <p:nvPicPr>
          <p:cNvPr id="72417158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07912" y="1551743"/>
            <a:ext cx="8862932" cy="1943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984459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58367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Прототип формы заявки на командировку</a:t>
            </a:r>
            <a:endParaRPr/>
          </a:p>
        </p:txBody>
      </p:sp>
      <p:pic>
        <p:nvPicPr>
          <p:cNvPr id="18784261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618746" y="914400"/>
            <a:ext cx="4840177" cy="402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774778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663188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Форма заявки на командировку</a:t>
            </a:r>
            <a:endParaRPr/>
          </a:p>
        </p:txBody>
      </p:sp>
      <p:pic>
        <p:nvPicPr>
          <p:cNvPr id="182497131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49325" y="936970"/>
            <a:ext cx="8622590" cy="3707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410193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621775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Работа с брокером сообщений</a:t>
            </a:r>
            <a:endParaRPr/>
          </a:p>
        </p:txBody>
      </p:sp>
      <p:pic>
        <p:nvPicPr>
          <p:cNvPr id="75572283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93912" y="952499"/>
            <a:ext cx="5003543" cy="3692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792814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630058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Очереди сообщений</a:t>
            </a:r>
            <a:endParaRPr/>
          </a:p>
        </p:txBody>
      </p:sp>
      <p:pic>
        <p:nvPicPr>
          <p:cNvPr id="88193123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121964" y="1043608"/>
            <a:ext cx="4065991" cy="391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781965" name="Google Shape;19;p5"/>
          <p:cNvSpPr txBox="1"/>
          <p:nvPr>
            <p:ph type="title"/>
          </p:nvPr>
        </p:nvSpPr>
        <p:spPr bwMode="auto">
          <a:xfrm>
            <a:off x="500549" y="330723"/>
            <a:ext cx="8520599" cy="10958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Сообщение в </a:t>
            </a:r>
            <a:r>
              <a:rPr lang="ru-RU"/>
              <a:t>R</a:t>
            </a:r>
            <a:r>
              <a:rPr lang="ru-RU"/>
              <a:t>M</a:t>
            </a:r>
            <a:r>
              <a:rPr lang="ru-RU"/>
              <a:t>Q</a:t>
            </a:r>
            <a:endParaRPr/>
          </a:p>
        </p:txBody>
      </p:sp>
      <p:pic>
        <p:nvPicPr>
          <p:cNvPr id="210732455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246912" y="944217"/>
            <a:ext cx="2897434" cy="4073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843675" name="Google Shape;19;p5"/>
          <p:cNvSpPr txBox="1"/>
          <p:nvPr>
            <p:ph type="title"/>
          </p:nvPr>
        </p:nvSpPr>
        <p:spPr bwMode="auto">
          <a:xfrm flipH="0" flipV="0">
            <a:off x="299021" y="330723"/>
            <a:ext cx="8722128" cy="679754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Регламентные задания работы с брокером сообщений</a:t>
            </a:r>
            <a:endParaRPr/>
          </a:p>
        </p:txBody>
      </p:sp>
      <p:pic>
        <p:nvPicPr>
          <p:cNvPr id="143226086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37911" y="1482586"/>
            <a:ext cx="6470502" cy="292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778256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596927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Юнит тестирование</a:t>
            </a:r>
            <a:endParaRPr/>
          </a:p>
        </p:txBody>
      </p:sp>
      <p:pic>
        <p:nvPicPr>
          <p:cNvPr id="5418487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69912" y="927651"/>
            <a:ext cx="7030672" cy="3596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502448" name="Google Shape;19;p5"/>
          <p:cNvSpPr txBox="1"/>
          <p:nvPr>
            <p:ph type="title"/>
          </p:nvPr>
        </p:nvSpPr>
        <p:spPr bwMode="auto">
          <a:xfrm flipH="0" flipV="0">
            <a:off x="500549" y="330723"/>
            <a:ext cx="8520599" cy="704602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ru-RU"/>
              <a:t>Сценарное тестирование</a:t>
            </a:r>
            <a:endParaRPr/>
          </a:p>
        </p:txBody>
      </p:sp>
      <p:pic>
        <p:nvPicPr>
          <p:cNvPr id="198872324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218391" y="932230"/>
            <a:ext cx="5226325" cy="4107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 bwMode="auto"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3400"/>
              <a:t>Выводы</a:t>
            </a:r>
            <a:endParaRPr sz="3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000"/>
          </a:p>
        </p:txBody>
      </p:sp>
      <p:graphicFrame>
        <p:nvGraphicFramePr>
          <p:cNvPr id="213" name="Google Shape;213;p42"/>
          <p:cNvGraphicFramePr>
            <a:graphicFrameLocks xmlns:a="http://schemas.openxmlformats.org/drawingml/2006/main"/>
          </p:cNvGraphicFramePr>
          <p:nvPr/>
        </p:nvGraphicFramePr>
        <p:xfrm>
          <a:off x="952499" y="1099274"/>
          <a:ext cx="7248524" cy="186258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{6F147F70-C4FF-49C5-A19A-1E773BD6F60A}</a:tableStyleId>
                <a:noFill/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Описаны модели бизнес-процессов, схемы интеграционных потоков, 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диаграмма основных объектов системы</a:t>
                      </a:r>
                      <a:endParaRPr sz="14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/>
                        <a:t>Реализована библиотека для работы с </a:t>
                      </a:r>
                      <a:r>
                        <a:rPr lang="ru-RU" sz="1400"/>
                        <a:t>R</a:t>
                      </a:r>
                      <a:r>
                        <a:rPr lang="ru-RU" sz="1400"/>
                        <a:t>a</a:t>
                      </a:r>
                      <a:r>
                        <a:rPr lang="ru-RU" sz="1400"/>
                        <a:t>b</a:t>
                      </a:r>
                      <a:r>
                        <a:rPr lang="ru-RU" sz="1400"/>
                        <a:t>b</a:t>
                      </a:r>
                      <a:r>
                        <a:rPr lang="ru-RU" sz="1400"/>
                        <a:t>i</a:t>
                      </a:r>
                      <a:r>
                        <a:rPr lang="ru-RU" sz="1400"/>
                        <a:t>t</a:t>
                      </a:r>
                      <a:r>
                        <a:rPr lang="ru-RU" sz="1400"/>
                        <a:t> </a:t>
                      </a:r>
                      <a:r>
                        <a:rPr lang="ru-RU" sz="1400"/>
                        <a:t>M</a:t>
                      </a:r>
                      <a:r>
                        <a:rPr lang="ru-RU" sz="1400"/>
                        <a:t>Q</a:t>
                      </a:r>
                      <a:r>
                        <a:rPr lang="ru-RU" sz="1400"/>
                        <a:t> </a:t>
                      </a:r>
                      <a:r>
                        <a:rPr lang="ru-RU" sz="1400"/>
                        <a:t>c</a:t>
                      </a:r>
                      <a:r>
                        <a:rPr lang="ru-RU" sz="1400"/>
                        <a:t> </a:t>
                      </a:r>
                      <a:r>
                        <a:rPr lang="ru-RU" sz="1400"/>
                        <a:t>использованием внешней компоненты </a:t>
                      </a:r>
                      <a:r>
                        <a:rPr lang="en-US" sz="14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lang="en-US" sz="1400" b="0" i="0" u="none" strike="noStrike" cap="none" spc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inkRabbitMQ </a:t>
                      </a:r>
                      <a:endParaRPr sz="14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4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  <a:endParaRPr sz="14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Реализована 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на платформе 1С с функционалом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планирования и оформления заявок на командировку, формирования сообщений для передачи в систему бронирования, обработка входящих сообщений от системы бронирования</a:t>
                      </a:r>
                      <a:endParaRPr sz="14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" sz="14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r>
                        <a:rPr lang="ru" sz="14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400"/>
                    </a:p>
                  </a:txBody>
                  <a:tcPr marL="198000" marR="91425" marT="91425" marB="91425">
                    <a:lnL w="9525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5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Реализованы юнит и сценарные тесты</a:t>
                      </a:r>
                      <a:endParaRPr sz="14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5" marT="91425" marB="91425">
                    <a:lnL w="9525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5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5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5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defRPr/>
                      </a:pPr>
                      <a:r>
                        <a:rPr lang="ru" sz="14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r>
                        <a:rPr lang="ru" sz="1400" b="1" i="0" u="none" strike="noStrike" cap="none" spc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sz="1400"/>
                    </a:p>
                  </a:txBody>
                  <a:tcPr marL="198000" marR="91423" marT="91423" marB="91423">
                    <a:lnL w="9524" algn="ctr">
                      <a:solidFill>
                        <a:srgbClr val="BFC1F0">
                          <a:alpha val="0"/>
                        </a:srgbClr>
                      </a:solidFill>
                    </a:lnL>
                    <a:lnR w="9524" algn="ctr">
                      <a:solidFill>
                        <a:srgbClr val="FFFFFF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Создан 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lang="ru-RU" sz="14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репозиторий со всеми артефактами проекта</a:t>
                      </a:r>
                      <a:endParaRPr sz="14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198000" marR="91423" marT="91423" marB="91423">
                    <a:lnL w="9524" algn="ctr">
                      <a:solidFill>
                        <a:srgbClr val="FFFFFF">
                          <a:alpha val="0"/>
                        </a:srgbClr>
                      </a:solidFill>
                    </a:lnL>
                    <a:lnR w="9524" algn="ctr">
                      <a:solidFill>
                        <a:srgbClr val="BFC1F0">
                          <a:alpha val="0"/>
                        </a:srgbClr>
                      </a:solidFill>
                    </a:lnR>
                    <a:lnT w="9524" algn="ctr">
                      <a:solidFill>
                        <a:srgbClr val="BFC1F0">
                          <a:alpha val="0"/>
                        </a:srgbClr>
                      </a:solidFill>
                    </a:lnT>
                    <a:lnB w="9524" algn="ctr">
                      <a:solidFill>
                        <a:srgbClr val="BFC1F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 bwMode="auto"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3" name="Google Shape;223;p43"/>
          <p:cNvSpPr txBox="1"/>
          <p:nvPr/>
        </p:nvSpPr>
        <p:spPr bwMode="auto"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4" name="Google Shape;224;p43"/>
          <p:cNvSpPr txBox="1"/>
          <p:nvPr/>
        </p:nvSpPr>
        <p:spPr bwMode="auto"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5" name="Google Shape;225;p43"/>
          <p:cNvSpPr txBox="1"/>
          <p:nvPr/>
        </p:nvSpPr>
        <p:spPr bwMode="auto"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6" name="Google Shape;226;p43"/>
          <p:cNvSpPr txBox="1"/>
          <p:nvPr/>
        </p:nvSpPr>
        <p:spPr bwMode="auto"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type="title" idx="4294967295"/>
          </p:nvPr>
        </p:nvSpPr>
        <p:spPr bwMode="auto"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Р7-Офис/2024.4.2.721</Application>
  <DocSecurity>0</DocSecurity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e.klishev</cp:lastModifiedBy>
  <cp:revision>1</cp:revision>
  <dcterms:modified xsi:type="dcterms:W3CDTF">2025-09-26T08:54:36Z</dcterms:modified>
  <cp:category/>
  <cp:contentStatus/>
  <cp:version/>
</cp:coreProperties>
</file>